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8" r:id="rId2"/>
    <p:sldId id="256" r:id="rId3"/>
    <p:sldId id="257" r:id="rId4"/>
    <p:sldId id="258" r:id="rId5"/>
    <p:sldId id="259" r:id="rId6"/>
    <p:sldId id="266"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02" y="5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776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~20 sec
Introduce yourself and the project name.
"SymptoMap bridges the gap between what ambient AI hears and what clinical documentation actually needs to capture.
We are not replacing Suki or any ambient platform — we are the intelligence layer that sits after the transcript."
Keep this brief — move quickly to the problem.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(~30 sec)
"Ambient AI writes a perfect transcript. The terminology standard holds a perfect dictionary. Nothing connects them automatically. A CDI specialist does it manually — on every single note. SymptoMap automates that link."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Solution (~25 sec)
"Three steps. Capture — the ambient AI already does this. Map — our audit graph finds the relationships between concepts. Standardise — we link to the terminology that billing and coding teams actually use. CDI specialist reviews and confirms. We just do the first pass."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Implementation (~40 sec)
Walk each node left to right.
"Step 1: Ambient AI note arrives as structured JSON. Step 2: We extract the clinical concepts — in under 5ms, no heavy ML. Step 3: The audit graph traverses relationships between those concepts. Step 4: We link to the standardised terminology term. Step 5: The CDI specialist sees the suggestion with a full audit trail and confirms.
The demo at the bottom is the actual test case running live."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Competition (~25 sec)
Be direct and honest — judges know the space.
"Ambient AI tools do transcription, not enrichment. Legacy CDI tools do enrichment, but they are not platform neutral and they are not designed for ambient output. General LLMs have no clinical ontology grounding. SymptoMap is the only combination of all four — and because it is administrative infrastructure, not clinical decision support, there is no FDA clearance pathway involved."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(Close) ~20 sec
Land cleanly. Don't rush.
"SymptoMap is not another ambient AI scribe. It's the intelligence layer that runs after the transcript — filling the semantic gap that costs health systems $4 billion a year.
We're looking for three things: a Suki for Partners connection, one health system pilot, and a path to real IMO API access.
Thank you."
Then stop. Do not add more. Let the NABC strip do the work.
If there's time for Q&amp;A, the most likely question is 'why won't Suki just build this themselves?' — Answer: platform neutrality. They serve Suki customers. We serve every ambient platform.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7377"/>
          </a:solidFill>
          <a:ln/>
        </p:spPr>
      </p:sp>
      <p:sp>
        <p:nvSpPr>
          <p:cNvPr id="3" name="Shape 1"/>
          <p:cNvSpPr/>
          <p:nvPr/>
        </p:nvSpPr>
        <p:spPr>
          <a:xfrm>
            <a:off x="6858000" y="274320"/>
            <a:ext cx="91440" cy="91440"/>
          </a:xfrm>
          <a:prstGeom prst="ellipse">
            <a:avLst/>
          </a:prstGeom>
          <a:solidFill>
            <a:srgbClr val="0D7377">
              <a:alpha val="30000"/>
            </a:srgbClr>
          </a:solidFill>
          <a:ln/>
        </p:spPr>
      </p:sp>
      <p:sp>
        <p:nvSpPr>
          <p:cNvPr id="4" name="Shape 2"/>
          <p:cNvSpPr/>
          <p:nvPr/>
        </p:nvSpPr>
        <p:spPr>
          <a:xfrm>
            <a:off x="7205472" y="274320"/>
            <a:ext cx="91440" cy="91440"/>
          </a:xfrm>
          <a:prstGeom prst="ellipse">
            <a:avLst/>
          </a:prstGeom>
          <a:solidFill>
            <a:srgbClr val="0D7377">
              <a:alpha val="30000"/>
            </a:srgbClr>
          </a:solidFill>
          <a:ln/>
        </p:spPr>
      </p:sp>
      <p:sp>
        <p:nvSpPr>
          <p:cNvPr id="5" name="Shape 3"/>
          <p:cNvSpPr/>
          <p:nvPr/>
        </p:nvSpPr>
        <p:spPr>
          <a:xfrm>
            <a:off x="7552944" y="274320"/>
            <a:ext cx="91440" cy="91440"/>
          </a:xfrm>
          <a:prstGeom prst="ellipse">
            <a:avLst/>
          </a:prstGeom>
          <a:solidFill>
            <a:srgbClr val="0D7377">
              <a:alpha val="30000"/>
            </a:srgbClr>
          </a:solidFill>
          <a:ln/>
        </p:spPr>
      </p:sp>
      <p:sp>
        <p:nvSpPr>
          <p:cNvPr id="6" name="Shape 4"/>
          <p:cNvSpPr/>
          <p:nvPr/>
        </p:nvSpPr>
        <p:spPr>
          <a:xfrm>
            <a:off x="7900416" y="274320"/>
            <a:ext cx="91440" cy="91440"/>
          </a:xfrm>
          <a:prstGeom prst="ellipse">
            <a:avLst/>
          </a:prstGeom>
          <a:solidFill>
            <a:srgbClr val="0D7377">
              <a:alpha val="30000"/>
            </a:srgbClr>
          </a:solidFill>
          <a:ln/>
        </p:spPr>
      </p:sp>
      <p:sp>
        <p:nvSpPr>
          <p:cNvPr id="7" name="Shape 5"/>
          <p:cNvSpPr/>
          <p:nvPr/>
        </p:nvSpPr>
        <p:spPr>
          <a:xfrm>
            <a:off x="8247888" y="274320"/>
            <a:ext cx="91440" cy="91440"/>
          </a:xfrm>
          <a:prstGeom prst="ellipse">
            <a:avLst/>
          </a:prstGeom>
          <a:solidFill>
            <a:srgbClr val="0D7377">
              <a:alpha val="30000"/>
            </a:srgbClr>
          </a:solidFill>
          <a:ln/>
        </p:spPr>
      </p:sp>
      <p:sp>
        <p:nvSpPr>
          <p:cNvPr id="8" name="Shape 6"/>
          <p:cNvSpPr/>
          <p:nvPr/>
        </p:nvSpPr>
        <p:spPr>
          <a:xfrm>
            <a:off x="8595360" y="274320"/>
            <a:ext cx="91440" cy="91440"/>
          </a:xfrm>
          <a:prstGeom prst="ellipse">
            <a:avLst/>
          </a:prstGeom>
          <a:solidFill>
            <a:srgbClr val="0D7377">
              <a:alpha val="30000"/>
            </a:srgbClr>
          </a:solidFill>
          <a:ln/>
        </p:spPr>
      </p:sp>
      <p:sp>
        <p:nvSpPr>
          <p:cNvPr id="9" name="Shape 7"/>
          <p:cNvSpPr/>
          <p:nvPr/>
        </p:nvSpPr>
        <p:spPr>
          <a:xfrm>
            <a:off x="6858000" y="621792"/>
            <a:ext cx="91440" cy="91440"/>
          </a:xfrm>
          <a:prstGeom prst="ellipse">
            <a:avLst/>
          </a:prstGeom>
          <a:solidFill>
            <a:srgbClr val="0D7377">
              <a:alpha val="30000"/>
            </a:srgbClr>
          </a:solidFill>
          <a:ln/>
        </p:spPr>
      </p:sp>
      <p:sp>
        <p:nvSpPr>
          <p:cNvPr id="10" name="Shape 8"/>
          <p:cNvSpPr/>
          <p:nvPr/>
        </p:nvSpPr>
        <p:spPr>
          <a:xfrm>
            <a:off x="7205472" y="621792"/>
            <a:ext cx="91440" cy="91440"/>
          </a:xfrm>
          <a:prstGeom prst="ellipse">
            <a:avLst/>
          </a:prstGeom>
          <a:solidFill>
            <a:srgbClr val="0D7377">
              <a:alpha val="30000"/>
            </a:srgbClr>
          </a:solidFill>
          <a:ln/>
        </p:spPr>
      </p:sp>
      <p:sp>
        <p:nvSpPr>
          <p:cNvPr id="11" name="Shape 9"/>
          <p:cNvSpPr/>
          <p:nvPr/>
        </p:nvSpPr>
        <p:spPr>
          <a:xfrm>
            <a:off x="7552944" y="621792"/>
            <a:ext cx="91440" cy="91440"/>
          </a:xfrm>
          <a:prstGeom prst="ellipse">
            <a:avLst/>
          </a:prstGeom>
          <a:solidFill>
            <a:srgbClr val="0D7377">
              <a:alpha val="30000"/>
            </a:srgbClr>
          </a:solidFill>
          <a:ln/>
        </p:spPr>
      </p:sp>
      <p:sp>
        <p:nvSpPr>
          <p:cNvPr id="12" name="Shape 10"/>
          <p:cNvSpPr/>
          <p:nvPr/>
        </p:nvSpPr>
        <p:spPr>
          <a:xfrm>
            <a:off x="7900416" y="621792"/>
            <a:ext cx="91440" cy="91440"/>
          </a:xfrm>
          <a:prstGeom prst="ellipse">
            <a:avLst/>
          </a:prstGeom>
          <a:solidFill>
            <a:srgbClr val="0D7377">
              <a:alpha val="30000"/>
            </a:srgbClr>
          </a:solidFill>
          <a:ln/>
        </p:spPr>
      </p:sp>
      <p:sp>
        <p:nvSpPr>
          <p:cNvPr id="13" name="Shape 11"/>
          <p:cNvSpPr/>
          <p:nvPr/>
        </p:nvSpPr>
        <p:spPr>
          <a:xfrm>
            <a:off x="8247888" y="621792"/>
            <a:ext cx="91440" cy="91440"/>
          </a:xfrm>
          <a:prstGeom prst="ellipse">
            <a:avLst/>
          </a:prstGeom>
          <a:solidFill>
            <a:srgbClr val="0D7377">
              <a:alpha val="30000"/>
            </a:srgbClr>
          </a:solidFill>
          <a:ln/>
        </p:spPr>
      </p:sp>
      <p:sp>
        <p:nvSpPr>
          <p:cNvPr id="14" name="Shape 12"/>
          <p:cNvSpPr/>
          <p:nvPr/>
        </p:nvSpPr>
        <p:spPr>
          <a:xfrm>
            <a:off x="8595360" y="621792"/>
            <a:ext cx="91440" cy="91440"/>
          </a:xfrm>
          <a:prstGeom prst="ellipse">
            <a:avLst/>
          </a:prstGeom>
          <a:solidFill>
            <a:srgbClr val="0D7377">
              <a:alpha val="30000"/>
            </a:srgbClr>
          </a:solidFill>
          <a:ln/>
        </p:spPr>
      </p:sp>
      <p:sp>
        <p:nvSpPr>
          <p:cNvPr id="15" name="Shape 13"/>
          <p:cNvSpPr/>
          <p:nvPr/>
        </p:nvSpPr>
        <p:spPr>
          <a:xfrm>
            <a:off x="6858000" y="969264"/>
            <a:ext cx="91440" cy="91440"/>
          </a:xfrm>
          <a:prstGeom prst="ellipse">
            <a:avLst/>
          </a:prstGeom>
          <a:solidFill>
            <a:srgbClr val="0D7377">
              <a:alpha val="30000"/>
            </a:srgbClr>
          </a:solidFill>
          <a:ln/>
        </p:spPr>
      </p:sp>
      <p:sp>
        <p:nvSpPr>
          <p:cNvPr id="16" name="Shape 14"/>
          <p:cNvSpPr/>
          <p:nvPr/>
        </p:nvSpPr>
        <p:spPr>
          <a:xfrm>
            <a:off x="7205472" y="969264"/>
            <a:ext cx="91440" cy="91440"/>
          </a:xfrm>
          <a:prstGeom prst="ellipse">
            <a:avLst/>
          </a:prstGeom>
          <a:solidFill>
            <a:srgbClr val="0D7377">
              <a:alpha val="30000"/>
            </a:srgbClr>
          </a:solidFill>
          <a:ln/>
        </p:spPr>
      </p:sp>
      <p:sp>
        <p:nvSpPr>
          <p:cNvPr id="17" name="Shape 15"/>
          <p:cNvSpPr/>
          <p:nvPr/>
        </p:nvSpPr>
        <p:spPr>
          <a:xfrm>
            <a:off x="7552944" y="969264"/>
            <a:ext cx="91440" cy="91440"/>
          </a:xfrm>
          <a:prstGeom prst="ellipse">
            <a:avLst/>
          </a:prstGeom>
          <a:solidFill>
            <a:srgbClr val="0D7377">
              <a:alpha val="30000"/>
            </a:srgbClr>
          </a:solidFill>
          <a:ln/>
        </p:spPr>
      </p:sp>
      <p:sp>
        <p:nvSpPr>
          <p:cNvPr id="18" name="Shape 16"/>
          <p:cNvSpPr/>
          <p:nvPr/>
        </p:nvSpPr>
        <p:spPr>
          <a:xfrm>
            <a:off x="7900416" y="969264"/>
            <a:ext cx="91440" cy="91440"/>
          </a:xfrm>
          <a:prstGeom prst="ellipse">
            <a:avLst/>
          </a:prstGeom>
          <a:solidFill>
            <a:srgbClr val="0D7377">
              <a:alpha val="30000"/>
            </a:srgbClr>
          </a:solidFill>
          <a:ln/>
        </p:spPr>
      </p:sp>
      <p:sp>
        <p:nvSpPr>
          <p:cNvPr id="19" name="Shape 17"/>
          <p:cNvSpPr/>
          <p:nvPr/>
        </p:nvSpPr>
        <p:spPr>
          <a:xfrm>
            <a:off x="8247888" y="969264"/>
            <a:ext cx="91440" cy="91440"/>
          </a:xfrm>
          <a:prstGeom prst="ellipse">
            <a:avLst/>
          </a:prstGeom>
          <a:solidFill>
            <a:srgbClr val="0D7377">
              <a:alpha val="30000"/>
            </a:srgbClr>
          </a:solidFill>
          <a:ln/>
        </p:spPr>
      </p:sp>
      <p:sp>
        <p:nvSpPr>
          <p:cNvPr id="20" name="Shape 18"/>
          <p:cNvSpPr/>
          <p:nvPr/>
        </p:nvSpPr>
        <p:spPr>
          <a:xfrm>
            <a:off x="8595360" y="969264"/>
            <a:ext cx="91440" cy="91440"/>
          </a:xfrm>
          <a:prstGeom prst="ellipse">
            <a:avLst/>
          </a:prstGeom>
          <a:solidFill>
            <a:srgbClr val="0D7377">
              <a:alpha val="30000"/>
            </a:srgbClr>
          </a:solidFill>
          <a:ln/>
        </p:spPr>
      </p:sp>
      <p:sp>
        <p:nvSpPr>
          <p:cNvPr id="21" name="Shape 19"/>
          <p:cNvSpPr/>
          <p:nvPr/>
        </p:nvSpPr>
        <p:spPr>
          <a:xfrm>
            <a:off x="6858000" y="1316736"/>
            <a:ext cx="91440" cy="91440"/>
          </a:xfrm>
          <a:prstGeom prst="ellipse">
            <a:avLst/>
          </a:prstGeom>
          <a:solidFill>
            <a:srgbClr val="0D7377">
              <a:alpha val="30000"/>
            </a:srgbClr>
          </a:solidFill>
          <a:ln/>
        </p:spPr>
      </p:sp>
      <p:sp>
        <p:nvSpPr>
          <p:cNvPr id="22" name="Shape 20"/>
          <p:cNvSpPr/>
          <p:nvPr/>
        </p:nvSpPr>
        <p:spPr>
          <a:xfrm>
            <a:off x="7205472" y="1316736"/>
            <a:ext cx="91440" cy="91440"/>
          </a:xfrm>
          <a:prstGeom prst="ellipse">
            <a:avLst/>
          </a:prstGeom>
          <a:solidFill>
            <a:srgbClr val="0D7377">
              <a:alpha val="30000"/>
            </a:srgbClr>
          </a:solidFill>
          <a:ln/>
        </p:spPr>
      </p:sp>
      <p:sp>
        <p:nvSpPr>
          <p:cNvPr id="23" name="Shape 21"/>
          <p:cNvSpPr/>
          <p:nvPr/>
        </p:nvSpPr>
        <p:spPr>
          <a:xfrm>
            <a:off x="7552944" y="1316736"/>
            <a:ext cx="91440" cy="91440"/>
          </a:xfrm>
          <a:prstGeom prst="ellipse">
            <a:avLst/>
          </a:prstGeom>
          <a:solidFill>
            <a:srgbClr val="0D7377">
              <a:alpha val="30000"/>
            </a:srgbClr>
          </a:solidFill>
          <a:ln/>
        </p:spPr>
      </p:sp>
      <p:sp>
        <p:nvSpPr>
          <p:cNvPr id="24" name="Shape 22"/>
          <p:cNvSpPr/>
          <p:nvPr/>
        </p:nvSpPr>
        <p:spPr>
          <a:xfrm>
            <a:off x="7900416" y="1316736"/>
            <a:ext cx="91440" cy="91440"/>
          </a:xfrm>
          <a:prstGeom prst="ellipse">
            <a:avLst/>
          </a:prstGeom>
          <a:solidFill>
            <a:srgbClr val="0D7377">
              <a:alpha val="30000"/>
            </a:srgbClr>
          </a:solidFill>
          <a:ln/>
        </p:spPr>
      </p:sp>
      <p:sp>
        <p:nvSpPr>
          <p:cNvPr id="25" name="Shape 23"/>
          <p:cNvSpPr/>
          <p:nvPr/>
        </p:nvSpPr>
        <p:spPr>
          <a:xfrm>
            <a:off x="8247888" y="1316736"/>
            <a:ext cx="91440" cy="91440"/>
          </a:xfrm>
          <a:prstGeom prst="ellipse">
            <a:avLst/>
          </a:prstGeom>
          <a:solidFill>
            <a:srgbClr val="0D7377">
              <a:alpha val="30000"/>
            </a:srgbClr>
          </a:solidFill>
          <a:ln/>
        </p:spPr>
      </p:sp>
      <p:sp>
        <p:nvSpPr>
          <p:cNvPr id="26" name="Shape 24"/>
          <p:cNvSpPr/>
          <p:nvPr/>
        </p:nvSpPr>
        <p:spPr>
          <a:xfrm>
            <a:off x="8595360" y="1316736"/>
            <a:ext cx="91440" cy="91440"/>
          </a:xfrm>
          <a:prstGeom prst="ellipse">
            <a:avLst/>
          </a:prstGeom>
          <a:solidFill>
            <a:srgbClr val="0D7377">
              <a:alpha val="30000"/>
            </a:srgbClr>
          </a:solidFill>
          <a:ln/>
        </p:spPr>
      </p:sp>
      <p:sp>
        <p:nvSpPr>
          <p:cNvPr id="27" name="Shape 25"/>
          <p:cNvSpPr/>
          <p:nvPr/>
        </p:nvSpPr>
        <p:spPr>
          <a:xfrm>
            <a:off x="502920" y="822960"/>
            <a:ext cx="2926080" cy="274320"/>
          </a:xfrm>
          <a:prstGeom prst="roundRect">
            <a:avLst>
              <a:gd name="adj" fmla="val 50000"/>
            </a:avLst>
          </a:prstGeom>
          <a:solidFill>
            <a:srgbClr val="0D7377"/>
          </a:solidFill>
          <a:ln/>
        </p:spPr>
      </p:sp>
      <p:sp>
        <p:nvSpPr>
          <p:cNvPr id="28" name="Text 26"/>
          <p:cNvSpPr/>
          <p:nvPr/>
        </p:nvSpPr>
        <p:spPr>
          <a:xfrm>
            <a:off x="502920" y="822960"/>
            <a:ext cx="2926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1" dirty="0">
                <a:solidFill>
                  <a:srgbClr val="FFFFFF"/>
                </a:solidFill>
                <a:latin typeface="Calibri" pitchFamily="34" charset="0"/>
                <a:ea typeface="Calibri" pitchFamily="34" charset="-122"/>
                <a:cs typeface="Calibri" pitchFamily="34" charset="-120"/>
              </a:rPr>
              <a:t>SCARLET HACKS</a:t>
            </a: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APRIL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502920" y="1261872"/>
            <a:ext cx="82296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SymptoMap</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502920" y="2331720"/>
            <a:ext cx="6858000" cy="82296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2EB"/>
                </a:solidFill>
                <a:effectLst/>
                <a:uLnTx/>
                <a:uFillTx/>
                <a:latin typeface="Calibri" pitchFamily="34" charset="0"/>
                <a:ea typeface="Calibri" pitchFamily="34" charset="-122"/>
                <a:cs typeface="Calibri" pitchFamily="34" charset="-120"/>
              </a:rPr>
              <a:t>Turning ambient AI transcripts into</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2EB"/>
                </a:solidFill>
                <a:effectLst/>
                <a:uLnTx/>
                <a:uFillTx/>
                <a:latin typeface="Calibri" pitchFamily="34" charset="0"/>
                <a:ea typeface="Calibri" pitchFamily="34" charset="-122"/>
                <a:cs typeface="Calibri" pitchFamily="34" charset="-120"/>
              </a:rPr>
              <a:t>ontology-grounded clinical documentation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0" y="4160520"/>
            <a:ext cx="9144000" cy="982980"/>
          </a:xfrm>
          <a:prstGeom prst="rect">
            <a:avLst/>
          </a:prstGeom>
          <a:solidFill>
            <a:srgbClr val="141C2E"/>
          </a:solidFill>
          <a:ln/>
        </p:spPr>
      </p:sp>
      <p:sp>
        <p:nvSpPr>
          <p:cNvPr id="32" name="Text 30"/>
          <p:cNvSpPr/>
          <p:nvPr/>
        </p:nvSpPr>
        <p:spPr>
          <a:xfrm>
            <a:off x="457200" y="4251960"/>
            <a:ext cx="20116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D7377"/>
                </a:solidFill>
                <a:effectLst/>
                <a:uLnTx/>
                <a:uFillTx/>
                <a:latin typeface="Georgia" pitchFamily="34" charset="0"/>
                <a:ea typeface="Georgia" pitchFamily="34" charset="-122"/>
                <a:cs typeface="Georgia" pitchFamily="34" charset="-120"/>
              </a:rPr>
              <a:t>68%</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457200" y="4681728"/>
            <a:ext cx="20116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Health systems on ambient AI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2697480" y="4251960"/>
            <a:ext cx="20116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E8A838"/>
                </a:solidFill>
                <a:effectLst/>
                <a:uLnTx/>
                <a:uFillTx/>
                <a:latin typeface="Georgia" pitchFamily="34" charset="0"/>
                <a:ea typeface="Georgia" pitchFamily="34" charset="-122"/>
                <a:cs typeface="Georgia" pitchFamily="34" charset="-120"/>
              </a:rPr>
              <a:t>$3K</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2697480" y="4681728"/>
            <a:ext cx="20116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Per-member HCC undercoding gap / yr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4937760" y="4251960"/>
            <a:ext cx="20116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AC87E"/>
                </a:solidFill>
                <a:effectLst/>
                <a:uLnTx/>
                <a:uFillTx/>
                <a:latin typeface="Georgia" pitchFamily="34" charset="0"/>
                <a:ea typeface="Georgia" pitchFamily="34" charset="-122"/>
                <a:cs typeface="Georgia" pitchFamily="34" charset="-120"/>
              </a:rPr>
              <a:t>98%</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4937760" y="4681728"/>
            <a:ext cx="20116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Accuracy with KG grounding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7178040" y="4251960"/>
            <a:ext cx="20116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E8A838"/>
                </a:solidFill>
                <a:effectLst/>
                <a:uLnTx/>
                <a:uFillTx/>
                <a:latin typeface="Georgia" pitchFamily="34" charset="0"/>
                <a:ea typeface="Georgia" pitchFamily="34" charset="-122"/>
                <a:cs typeface="Georgia" pitchFamily="34" charset="-120"/>
              </a:rPr>
              <a:t>71%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7178040" y="4681728"/>
            <a:ext cx="20116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AI-CDI implementers at 2× ROI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02920" y="548640"/>
            <a:ext cx="16459" cy="4023360"/>
          </a:xfrm>
          <a:prstGeom prst="rect">
            <a:avLst/>
          </a:prstGeom>
          <a:solidFill>
            <a:srgbClr val="C8432A"/>
          </a:solidFill>
          <a:ln/>
        </p:spPr>
      </p:sp>
      <p:sp>
        <p:nvSpPr>
          <p:cNvPr id="3" name="Text 1"/>
          <p:cNvSpPr/>
          <p:nvPr/>
        </p:nvSpPr>
        <p:spPr>
          <a:xfrm>
            <a:off x="658368" y="566928"/>
            <a:ext cx="2743200" cy="201168"/>
          </a:xfrm>
          <a:prstGeom prst="rect">
            <a:avLst/>
          </a:prstGeom>
          <a:noFill/>
          <a:ln/>
        </p:spPr>
        <p:txBody>
          <a:bodyPr wrap="square" lIns="0" tIns="0" rIns="0" bIns="0" rtlCol="0" anchor="ctr"/>
          <a:lstStyle/>
          <a:p>
            <a:pPr marL="0" indent="0">
              <a:buNone/>
            </a:pPr>
            <a:r>
              <a:rPr lang="en-US" sz="800" b="1" kern="0" spc="500" dirty="0">
                <a:solidFill>
                  <a:srgbClr val="C8432A"/>
                </a:solidFill>
                <a:latin typeface="Helvetica Neue" pitchFamily="34" charset="0"/>
                <a:ea typeface="Helvetica Neue" pitchFamily="34" charset="-122"/>
                <a:cs typeface="Helvetica Neue" pitchFamily="34" charset="-120"/>
              </a:rPr>
              <a:t>PROBLEM</a:t>
            </a:r>
            <a:endParaRPr lang="en-US" sz="800" dirty="0"/>
          </a:p>
        </p:txBody>
      </p:sp>
      <p:sp>
        <p:nvSpPr>
          <p:cNvPr id="4" name="Text 2"/>
          <p:cNvSpPr/>
          <p:nvPr/>
        </p:nvSpPr>
        <p:spPr>
          <a:xfrm>
            <a:off x="658368" y="868680"/>
            <a:ext cx="5029200" cy="749808"/>
          </a:xfrm>
          <a:prstGeom prst="rect">
            <a:avLst/>
          </a:prstGeom>
          <a:noFill/>
          <a:ln/>
        </p:spPr>
        <p:txBody>
          <a:bodyPr wrap="square" lIns="0" tIns="0" rIns="0" bIns="0" rtlCol="0" anchor="ctr"/>
          <a:lstStyle/>
          <a:p>
            <a:pPr marL="0" indent="0">
              <a:lnSpc>
                <a:spcPct val="110000"/>
              </a:lnSpc>
              <a:buNone/>
            </a:pPr>
            <a:r>
              <a:rPr lang="en-US" sz="4000" dirty="0">
                <a:solidFill>
                  <a:srgbClr val="FFFFFF"/>
                </a:solidFill>
                <a:latin typeface="Helvetica Neue" pitchFamily="34" charset="0"/>
                <a:ea typeface="Helvetica Neue" pitchFamily="34" charset="-122"/>
                <a:cs typeface="Helvetica Neue" pitchFamily="34" charset="-120"/>
              </a:rPr>
              <a:t>The transcript is complete.</a:t>
            </a:r>
            <a:endParaRPr lang="en-US" sz="4000" dirty="0"/>
          </a:p>
        </p:txBody>
      </p:sp>
      <p:sp>
        <p:nvSpPr>
          <p:cNvPr id="5" name="Text 3"/>
          <p:cNvSpPr/>
          <p:nvPr/>
        </p:nvSpPr>
        <p:spPr>
          <a:xfrm>
            <a:off x="658368" y="1947672"/>
            <a:ext cx="5029200" cy="658368"/>
          </a:xfrm>
          <a:prstGeom prst="rect">
            <a:avLst/>
          </a:prstGeom>
          <a:noFill/>
          <a:ln/>
        </p:spPr>
        <p:txBody>
          <a:bodyPr wrap="square" lIns="0" tIns="0" rIns="0" bIns="0" rtlCol="0" anchor="ctr"/>
          <a:lstStyle/>
          <a:p>
            <a:pPr marL="0" indent="0">
              <a:lnSpc>
                <a:spcPct val="110000"/>
              </a:lnSpc>
              <a:buNone/>
            </a:pPr>
            <a:r>
              <a:rPr lang="en-US" sz="4000" dirty="0">
                <a:solidFill>
                  <a:srgbClr val="C8432A"/>
                </a:solidFill>
                <a:latin typeface="Helvetica Neue" pitchFamily="34" charset="0"/>
                <a:ea typeface="Helvetica Neue" pitchFamily="34" charset="-122"/>
                <a:cs typeface="Helvetica Neue" pitchFamily="34" charset="-120"/>
              </a:rPr>
              <a:t>The record is not.</a:t>
            </a:r>
            <a:endParaRPr lang="en-US" sz="4000" dirty="0"/>
          </a:p>
        </p:txBody>
      </p:sp>
      <p:sp>
        <p:nvSpPr>
          <p:cNvPr id="6" name="Shape 4"/>
          <p:cNvSpPr/>
          <p:nvPr/>
        </p:nvSpPr>
        <p:spPr>
          <a:xfrm>
            <a:off x="6265907" y="1261872"/>
            <a:ext cx="2871669" cy="347472"/>
          </a:xfrm>
          <a:prstGeom prst="rect">
            <a:avLst/>
          </a:prstGeom>
          <a:solidFill>
            <a:srgbClr val="2A6EC8">
              <a:alpha val="80000"/>
            </a:srgbClr>
          </a:solidFill>
          <a:ln/>
        </p:spPr>
      </p:sp>
      <p:sp>
        <p:nvSpPr>
          <p:cNvPr id="7" name="Text 5"/>
          <p:cNvSpPr/>
          <p:nvPr/>
        </p:nvSpPr>
        <p:spPr>
          <a:xfrm>
            <a:off x="5943600" y="1353312"/>
            <a:ext cx="3474720" cy="201168"/>
          </a:xfrm>
          <a:prstGeom prst="rect">
            <a:avLst/>
          </a:prstGeom>
          <a:noFill/>
          <a:ln/>
        </p:spPr>
        <p:txBody>
          <a:bodyPr wrap="square" lIns="0" tIns="0" rIns="0" bIns="0" rtlCol="0" anchor="ctr"/>
          <a:lstStyle/>
          <a:p>
            <a:pPr marL="0" indent="0" algn="ctr">
              <a:buNone/>
            </a:pPr>
            <a:r>
              <a:rPr lang="en-US" sz="950" dirty="0">
                <a:solidFill>
                  <a:srgbClr val="FFFFFF"/>
                </a:solidFill>
                <a:latin typeface="Helvetica Neue" pitchFamily="34" charset="0"/>
                <a:ea typeface="Helvetica Neue" pitchFamily="34" charset="-122"/>
                <a:cs typeface="Helvetica Neue" pitchFamily="34" charset="-120"/>
              </a:rPr>
              <a:t>Ambient AI</a:t>
            </a:r>
            <a:endParaRPr lang="en-US" sz="950" dirty="0"/>
          </a:p>
        </p:txBody>
      </p:sp>
      <p:sp>
        <p:nvSpPr>
          <p:cNvPr id="8" name="Shape 6"/>
          <p:cNvSpPr/>
          <p:nvPr/>
        </p:nvSpPr>
        <p:spPr>
          <a:xfrm>
            <a:off x="7644384" y="1664208"/>
            <a:ext cx="64008" cy="64008"/>
          </a:xfrm>
          <a:prstGeom prst="ellipse">
            <a:avLst/>
          </a:prstGeom>
          <a:solidFill>
            <a:srgbClr val="9EACC0">
              <a:alpha val="60000"/>
            </a:srgbClr>
          </a:solidFill>
          <a:ln/>
        </p:spPr>
      </p:sp>
      <p:sp>
        <p:nvSpPr>
          <p:cNvPr id="9" name="Shape 7"/>
          <p:cNvSpPr/>
          <p:nvPr/>
        </p:nvSpPr>
        <p:spPr>
          <a:xfrm>
            <a:off x="7644384" y="1773936"/>
            <a:ext cx="64008" cy="64008"/>
          </a:xfrm>
          <a:prstGeom prst="ellipse">
            <a:avLst/>
          </a:prstGeom>
          <a:solidFill>
            <a:srgbClr val="9EACC0">
              <a:alpha val="60000"/>
            </a:srgbClr>
          </a:solidFill>
          <a:ln/>
        </p:spPr>
      </p:sp>
      <p:sp>
        <p:nvSpPr>
          <p:cNvPr id="10" name="Shape 8"/>
          <p:cNvSpPr/>
          <p:nvPr/>
        </p:nvSpPr>
        <p:spPr>
          <a:xfrm>
            <a:off x="7644384" y="1883664"/>
            <a:ext cx="64008" cy="64008"/>
          </a:xfrm>
          <a:prstGeom prst="ellipse">
            <a:avLst/>
          </a:prstGeom>
          <a:solidFill>
            <a:srgbClr val="9EACC0">
              <a:alpha val="60000"/>
            </a:srgbClr>
          </a:solidFill>
          <a:ln/>
        </p:spPr>
      </p:sp>
      <p:sp>
        <p:nvSpPr>
          <p:cNvPr id="11" name="Shape 9"/>
          <p:cNvSpPr/>
          <p:nvPr/>
        </p:nvSpPr>
        <p:spPr>
          <a:xfrm>
            <a:off x="7644384" y="1993392"/>
            <a:ext cx="64008" cy="64008"/>
          </a:xfrm>
          <a:prstGeom prst="ellipse">
            <a:avLst/>
          </a:prstGeom>
          <a:solidFill>
            <a:srgbClr val="9EACC0">
              <a:alpha val="60000"/>
            </a:srgbClr>
          </a:solidFill>
          <a:ln/>
        </p:spPr>
      </p:sp>
      <p:sp>
        <p:nvSpPr>
          <p:cNvPr id="12" name="Shape 10"/>
          <p:cNvSpPr/>
          <p:nvPr/>
        </p:nvSpPr>
        <p:spPr>
          <a:xfrm>
            <a:off x="7644384" y="2103120"/>
            <a:ext cx="64008" cy="64008"/>
          </a:xfrm>
          <a:prstGeom prst="ellipse">
            <a:avLst/>
          </a:prstGeom>
          <a:solidFill>
            <a:srgbClr val="9EACC0">
              <a:alpha val="60000"/>
            </a:srgbClr>
          </a:solidFill>
          <a:ln/>
        </p:spPr>
      </p:sp>
      <p:sp>
        <p:nvSpPr>
          <p:cNvPr id="13" name="Shape 11"/>
          <p:cNvSpPr/>
          <p:nvPr/>
        </p:nvSpPr>
        <p:spPr>
          <a:xfrm>
            <a:off x="7004304" y="2207029"/>
            <a:ext cx="1280160" cy="347472"/>
          </a:xfrm>
          <a:prstGeom prst="rect">
            <a:avLst/>
          </a:prstGeom>
          <a:solidFill>
            <a:srgbClr val="C8432A"/>
          </a:solidFill>
          <a:ln/>
        </p:spPr>
      </p:sp>
      <p:sp>
        <p:nvSpPr>
          <p:cNvPr id="14" name="Text 12"/>
          <p:cNvSpPr/>
          <p:nvPr/>
        </p:nvSpPr>
        <p:spPr>
          <a:xfrm>
            <a:off x="7004304" y="2304288"/>
            <a:ext cx="1280160" cy="201168"/>
          </a:xfrm>
          <a:prstGeom prst="rect">
            <a:avLst/>
          </a:prstGeom>
          <a:noFill/>
          <a:ln/>
        </p:spPr>
        <p:txBody>
          <a:bodyPr wrap="square" lIns="0" tIns="0" rIns="0" bIns="0" rtlCol="0" anchor="ctr"/>
          <a:lstStyle/>
          <a:p>
            <a:pPr marL="0" indent="0" algn="ctr">
              <a:buNone/>
            </a:pPr>
            <a:r>
              <a:rPr lang="en-US" sz="950" dirty="0">
                <a:solidFill>
                  <a:srgbClr val="FFFFFF"/>
                </a:solidFill>
                <a:latin typeface="Helvetica Neue" pitchFamily="34" charset="0"/>
                <a:ea typeface="Helvetica Neue" pitchFamily="34" charset="-122"/>
                <a:cs typeface="Helvetica Neue" pitchFamily="34" charset="-120"/>
              </a:rPr>
              <a:t>CDI Gap</a:t>
            </a:r>
            <a:endParaRPr lang="en-US" sz="950" dirty="0"/>
          </a:p>
        </p:txBody>
      </p:sp>
      <p:sp>
        <p:nvSpPr>
          <p:cNvPr id="15" name="Shape 13"/>
          <p:cNvSpPr/>
          <p:nvPr/>
        </p:nvSpPr>
        <p:spPr>
          <a:xfrm>
            <a:off x="7644384" y="2651760"/>
            <a:ext cx="64008" cy="64008"/>
          </a:xfrm>
          <a:prstGeom prst="ellipse">
            <a:avLst/>
          </a:prstGeom>
          <a:solidFill>
            <a:srgbClr val="C8432A">
              <a:alpha val="60000"/>
            </a:srgbClr>
          </a:solidFill>
          <a:ln/>
        </p:spPr>
      </p:sp>
      <p:sp>
        <p:nvSpPr>
          <p:cNvPr id="16" name="Shape 14"/>
          <p:cNvSpPr/>
          <p:nvPr/>
        </p:nvSpPr>
        <p:spPr>
          <a:xfrm>
            <a:off x="7644384" y="2761488"/>
            <a:ext cx="64008" cy="64008"/>
          </a:xfrm>
          <a:prstGeom prst="ellipse">
            <a:avLst/>
          </a:prstGeom>
          <a:solidFill>
            <a:srgbClr val="C8432A">
              <a:alpha val="60000"/>
            </a:srgbClr>
          </a:solidFill>
          <a:ln/>
        </p:spPr>
      </p:sp>
      <p:sp>
        <p:nvSpPr>
          <p:cNvPr id="17" name="Shape 15"/>
          <p:cNvSpPr/>
          <p:nvPr/>
        </p:nvSpPr>
        <p:spPr>
          <a:xfrm>
            <a:off x="7644384" y="2871216"/>
            <a:ext cx="64008" cy="64008"/>
          </a:xfrm>
          <a:prstGeom prst="ellipse">
            <a:avLst/>
          </a:prstGeom>
          <a:solidFill>
            <a:srgbClr val="C8432A">
              <a:alpha val="60000"/>
            </a:srgbClr>
          </a:solidFill>
          <a:ln/>
        </p:spPr>
      </p:sp>
      <p:sp>
        <p:nvSpPr>
          <p:cNvPr id="18" name="Shape 16"/>
          <p:cNvSpPr/>
          <p:nvPr/>
        </p:nvSpPr>
        <p:spPr>
          <a:xfrm>
            <a:off x="7644384" y="2980944"/>
            <a:ext cx="64008" cy="64008"/>
          </a:xfrm>
          <a:prstGeom prst="ellipse">
            <a:avLst/>
          </a:prstGeom>
          <a:solidFill>
            <a:srgbClr val="C8432A">
              <a:alpha val="60000"/>
            </a:srgbClr>
          </a:solidFill>
          <a:ln/>
        </p:spPr>
      </p:sp>
      <p:sp>
        <p:nvSpPr>
          <p:cNvPr id="19" name="Shape 17"/>
          <p:cNvSpPr/>
          <p:nvPr/>
        </p:nvSpPr>
        <p:spPr>
          <a:xfrm>
            <a:off x="7644384" y="3090672"/>
            <a:ext cx="64008" cy="64008"/>
          </a:xfrm>
          <a:prstGeom prst="ellipse">
            <a:avLst/>
          </a:prstGeom>
          <a:solidFill>
            <a:srgbClr val="C8432A">
              <a:alpha val="60000"/>
            </a:srgbClr>
          </a:solidFill>
          <a:ln/>
        </p:spPr>
      </p:sp>
      <p:sp>
        <p:nvSpPr>
          <p:cNvPr id="20" name="Shape 18"/>
          <p:cNvSpPr/>
          <p:nvPr/>
        </p:nvSpPr>
        <p:spPr>
          <a:xfrm>
            <a:off x="6681492" y="3227002"/>
            <a:ext cx="2011680" cy="347472"/>
          </a:xfrm>
          <a:prstGeom prst="rect">
            <a:avLst/>
          </a:prstGeom>
          <a:solidFill>
            <a:srgbClr val="9EACC0">
              <a:alpha val="80000"/>
            </a:srgbClr>
          </a:solidFill>
          <a:ln/>
        </p:spPr>
      </p:sp>
      <p:sp>
        <p:nvSpPr>
          <p:cNvPr id="21" name="Text 19"/>
          <p:cNvSpPr/>
          <p:nvPr/>
        </p:nvSpPr>
        <p:spPr>
          <a:xfrm>
            <a:off x="6662650" y="3301125"/>
            <a:ext cx="2011680" cy="201168"/>
          </a:xfrm>
          <a:prstGeom prst="rect">
            <a:avLst/>
          </a:prstGeom>
          <a:noFill/>
          <a:ln/>
        </p:spPr>
        <p:txBody>
          <a:bodyPr wrap="square" lIns="0" tIns="0" rIns="0" bIns="0" rtlCol="0" anchor="ctr"/>
          <a:lstStyle/>
          <a:p>
            <a:pPr marL="0" indent="0" algn="ctr">
              <a:buNone/>
            </a:pPr>
            <a:r>
              <a:rPr lang="en-US" sz="950" dirty="0">
                <a:solidFill>
                  <a:srgbClr val="FFFFFF"/>
                </a:solidFill>
                <a:latin typeface="Helvetica Neue" pitchFamily="34" charset="0"/>
                <a:ea typeface="Helvetica Neue" pitchFamily="34" charset="-122"/>
                <a:cs typeface="Helvetica Neue" pitchFamily="34" charset="-120"/>
              </a:rPr>
              <a:t>EHR Record</a:t>
            </a:r>
            <a:endParaRPr lang="en-US" sz="950" dirty="0"/>
          </a:p>
        </p:txBody>
      </p:sp>
      <p:sp>
        <p:nvSpPr>
          <p:cNvPr id="22" name="Shape 20"/>
          <p:cNvSpPr/>
          <p:nvPr/>
        </p:nvSpPr>
        <p:spPr>
          <a:xfrm>
            <a:off x="5870448" y="1938528"/>
            <a:ext cx="45720" cy="841248"/>
          </a:xfrm>
          <a:prstGeom prst="rect">
            <a:avLst/>
          </a:prstGeom>
          <a:solidFill>
            <a:srgbClr val="C8432A"/>
          </a:solidFill>
          <a:ln/>
        </p:spPr>
      </p:sp>
      <p:sp>
        <p:nvSpPr>
          <p:cNvPr id="23" name="Text 21"/>
          <p:cNvSpPr/>
          <p:nvPr/>
        </p:nvSpPr>
        <p:spPr>
          <a:xfrm>
            <a:off x="5212080" y="2212848"/>
            <a:ext cx="594360" cy="256032"/>
          </a:xfrm>
          <a:prstGeom prst="rect">
            <a:avLst/>
          </a:prstGeom>
          <a:noFill/>
          <a:ln/>
        </p:spPr>
        <p:txBody>
          <a:bodyPr wrap="square" lIns="0" tIns="0" rIns="0" bIns="0" rtlCol="0" anchor="ctr"/>
          <a:lstStyle/>
          <a:p>
            <a:pPr marL="0" indent="0" algn="r">
              <a:buNone/>
            </a:pPr>
            <a:r>
              <a:rPr lang="en-US" sz="800" i="1" dirty="0">
                <a:solidFill>
                  <a:srgbClr val="C8432A"/>
                </a:solidFill>
                <a:latin typeface="Helvetica Neue" pitchFamily="34" charset="0"/>
                <a:ea typeface="Helvetica Neue" pitchFamily="34" charset="-122"/>
                <a:cs typeface="Helvetica Neue" pitchFamily="34" charset="-120"/>
              </a:rPr>
              <a:t>unmapped</a:t>
            </a:r>
            <a:endParaRPr lang="en-US" sz="800" dirty="0"/>
          </a:p>
        </p:txBody>
      </p:sp>
      <p:sp>
        <p:nvSpPr>
          <p:cNvPr id="24" name="Shape 22"/>
          <p:cNvSpPr/>
          <p:nvPr/>
        </p:nvSpPr>
        <p:spPr>
          <a:xfrm>
            <a:off x="0" y="4736592"/>
            <a:ext cx="9144000" cy="406908"/>
          </a:xfrm>
          <a:prstGeom prst="rect">
            <a:avLst/>
          </a:prstGeom>
          <a:solidFill>
            <a:srgbClr val="080C18"/>
          </a:solidFill>
          <a:ln/>
        </p:spPr>
      </p:sp>
      <p:sp>
        <p:nvSpPr>
          <p:cNvPr id="25" name="Text 23"/>
          <p:cNvSpPr/>
          <p:nvPr/>
        </p:nvSpPr>
        <p:spPr>
          <a:xfrm>
            <a:off x="502920" y="4791456"/>
            <a:ext cx="8229600" cy="274320"/>
          </a:xfrm>
          <a:prstGeom prst="rect">
            <a:avLst/>
          </a:prstGeom>
          <a:noFill/>
          <a:ln/>
        </p:spPr>
        <p:txBody>
          <a:bodyPr wrap="square" lIns="0" tIns="0" rIns="0" bIns="0" rtlCol="0" anchor="ctr"/>
          <a:lstStyle/>
          <a:p>
            <a:pPr marL="0" indent="0">
              <a:buNone/>
            </a:pPr>
            <a:r>
              <a:rPr lang="en-US" sz="1100" dirty="0">
                <a:solidFill>
                  <a:srgbClr val="9EACC0"/>
                </a:solidFill>
                <a:latin typeface="Helvetica Neue" pitchFamily="34" charset="0"/>
                <a:ea typeface="Helvetica Neue" pitchFamily="34" charset="-122"/>
                <a:cs typeface="Helvetica Neue" pitchFamily="34" charset="-120"/>
              </a:rPr>
              <a:t>CDI specialists manually bridge this gap — on every note, every day.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A0F1E"/>
          </a:solidFill>
          <a:ln/>
        </p:spPr>
      </p:sp>
      <p:sp>
        <p:nvSpPr>
          <p:cNvPr id="3" name="Text 1"/>
          <p:cNvSpPr/>
          <p:nvPr/>
        </p:nvSpPr>
        <p:spPr>
          <a:xfrm>
            <a:off x="502920" y="228600"/>
            <a:ext cx="2743200" cy="201168"/>
          </a:xfrm>
          <a:prstGeom prst="rect">
            <a:avLst/>
          </a:prstGeom>
          <a:noFill/>
          <a:ln/>
        </p:spPr>
        <p:txBody>
          <a:bodyPr wrap="square" lIns="0" tIns="0" rIns="0" bIns="0" rtlCol="0" anchor="ctr"/>
          <a:lstStyle/>
          <a:p>
            <a:pPr marL="0" indent="0">
              <a:buNone/>
            </a:pPr>
            <a:r>
              <a:rPr lang="en-US" sz="800" b="1" kern="0" spc="500" dirty="0">
                <a:solidFill>
                  <a:srgbClr val="4A5568"/>
                </a:solidFill>
                <a:latin typeface="Helvetica Neue" pitchFamily="34" charset="0"/>
                <a:ea typeface="Helvetica Neue" pitchFamily="34" charset="-122"/>
                <a:cs typeface="Helvetica Neue" pitchFamily="34" charset="-120"/>
              </a:rPr>
              <a:t>SOLUTION</a:t>
            </a:r>
            <a:endParaRPr lang="en-US" sz="800" dirty="0"/>
          </a:p>
        </p:txBody>
      </p:sp>
      <p:sp>
        <p:nvSpPr>
          <p:cNvPr id="4" name="Text 2"/>
          <p:cNvSpPr/>
          <p:nvPr/>
        </p:nvSpPr>
        <p:spPr>
          <a:xfrm>
            <a:off x="502920" y="502920"/>
            <a:ext cx="5486400" cy="1417320"/>
          </a:xfrm>
          <a:prstGeom prst="rect">
            <a:avLst/>
          </a:prstGeom>
          <a:noFill/>
          <a:ln/>
        </p:spPr>
        <p:txBody>
          <a:bodyPr wrap="square" lIns="0" tIns="0" rIns="0" bIns="0" rtlCol="0" anchor="ctr"/>
          <a:lstStyle/>
          <a:p>
            <a:pPr marL="0" indent="0">
              <a:lnSpc>
                <a:spcPct val="110000"/>
              </a:lnSpc>
              <a:buNone/>
            </a:pPr>
            <a:r>
              <a:rPr lang="en-US" sz="4000" dirty="0">
                <a:solidFill>
                  <a:srgbClr val="0A0F1E"/>
                </a:solidFill>
                <a:latin typeface="Helvetica Neue" pitchFamily="34" charset="0"/>
                <a:ea typeface="Helvetica Neue" pitchFamily="34" charset="-122"/>
                <a:cs typeface="Helvetica Neue" pitchFamily="34" charset="-120"/>
              </a:rPr>
              <a:t>One layer.</a:t>
            </a:r>
            <a:endParaRPr lang="en-US" sz="4000" dirty="0"/>
          </a:p>
          <a:p>
            <a:pPr marL="0" indent="0">
              <a:lnSpc>
                <a:spcPct val="110000"/>
              </a:lnSpc>
              <a:buNone/>
            </a:pPr>
            <a:r>
              <a:rPr lang="en-US" sz="4000" dirty="0">
                <a:solidFill>
                  <a:srgbClr val="0A0F1E"/>
                </a:solidFill>
                <a:latin typeface="Helvetica Neue" pitchFamily="34" charset="0"/>
                <a:ea typeface="Helvetica Neue" pitchFamily="34" charset="-122"/>
                <a:cs typeface="Helvetica Neue" pitchFamily="34" charset="-120"/>
              </a:rPr>
              <a:t>Every concept linked.</a:t>
            </a:r>
            <a:endParaRPr lang="en-US" sz="4000" dirty="0"/>
          </a:p>
        </p:txBody>
      </p:sp>
      <p:sp>
        <p:nvSpPr>
          <p:cNvPr id="5" name="Shape 3"/>
          <p:cNvSpPr/>
          <p:nvPr/>
        </p:nvSpPr>
        <p:spPr>
          <a:xfrm>
            <a:off x="502920" y="2057400"/>
            <a:ext cx="2542032" cy="2331720"/>
          </a:xfrm>
          <a:prstGeom prst="rect">
            <a:avLst/>
          </a:prstGeom>
          <a:solidFill>
            <a:srgbClr val="F0F4F8"/>
          </a:solidFill>
          <a:ln w="12700">
            <a:solidFill>
              <a:srgbClr val="E2E8F0"/>
            </a:solidFill>
            <a:prstDash val="solid"/>
          </a:ln>
          <a:effectLst>
            <a:outerShdw blurRad="304800" dist="101600" dir="8100000" algn="bl" rotWithShape="0">
              <a:srgbClr val="000000">
                <a:alpha val="22000"/>
              </a:srgbClr>
            </a:outerShdw>
          </a:effectLst>
        </p:spPr>
      </p:sp>
      <p:sp>
        <p:nvSpPr>
          <p:cNvPr id="6" name="Shape 4"/>
          <p:cNvSpPr/>
          <p:nvPr/>
        </p:nvSpPr>
        <p:spPr>
          <a:xfrm>
            <a:off x="502920" y="2057400"/>
            <a:ext cx="2542032" cy="36576"/>
          </a:xfrm>
          <a:prstGeom prst="rect">
            <a:avLst/>
          </a:prstGeom>
          <a:solidFill>
            <a:srgbClr val="9EACC0"/>
          </a:solidFill>
          <a:ln/>
        </p:spPr>
      </p:sp>
      <p:sp>
        <p:nvSpPr>
          <p:cNvPr id="7" name="Text 5"/>
          <p:cNvSpPr/>
          <p:nvPr/>
        </p:nvSpPr>
        <p:spPr>
          <a:xfrm>
            <a:off x="685800" y="2148840"/>
            <a:ext cx="1097280" cy="731520"/>
          </a:xfrm>
          <a:prstGeom prst="rect">
            <a:avLst/>
          </a:prstGeom>
          <a:noFill/>
          <a:ln/>
        </p:spPr>
        <p:txBody>
          <a:bodyPr wrap="square" lIns="0" tIns="0" rIns="0" bIns="0" rtlCol="0" anchor="ctr"/>
          <a:lstStyle/>
          <a:p>
            <a:pPr marL="0" indent="0">
              <a:buNone/>
            </a:pPr>
            <a:r>
              <a:rPr lang="en-US" sz="5200" dirty="0">
                <a:solidFill>
                  <a:srgbClr val="9EACC0"/>
                </a:solidFill>
                <a:latin typeface="Helvetica Neue" pitchFamily="34" charset="0"/>
                <a:ea typeface="Helvetica Neue" pitchFamily="34" charset="-122"/>
                <a:cs typeface="Helvetica Neue" pitchFamily="34" charset="-120"/>
              </a:rPr>
              <a:t>01</a:t>
            </a:r>
            <a:endParaRPr lang="en-US" sz="5200" dirty="0"/>
          </a:p>
        </p:txBody>
      </p:sp>
      <p:sp>
        <p:nvSpPr>
          <p:cNvPr id="8" name="Text 6"/>
          <p:cNvSpPr/>
          <p:nvPr/>
        </p:nvSpPr>
        <p:spPr>
          <a:xfrm>
            <a:off x="685800" y="2907792"/>
            <a:ext cx="2194560" cy="384048"/>
          </a:xfrm>
          <a:prstGeom prst="rect">
            <a:avLst/>
          </a:prstGeom>
          <a:noFill/>
          <a:ln/>
        </p:spPr>
        <p:txBody>
          <a:bodyPr wrap="square" lIns="0" tIns="0" rIns="0" bIns="0" rtlCol="0" anchor="ctr"/>
          <a:lstStyle/>
          <a:p>
            <a:pPr marL="0" indent="0">
              <a:buNone/>
            </a:pPr>
            <a:r>
              <a:rPr lang="en-US" sz="1800" dirty="0">
                <a:solidFill>
                  <a:srgbClr val="0A0F1E"/>
                </a:solidFill>
                <a:latin typeface="Helvetica Neue" pitchFamily="34" charset="0"/>
                <a:ea typeface="Helvetica Neue" pitchFamily="34" charset="-122"/>
                <a:cs typeface="Helvetica Neue" pitchFamily="34" charset="-120"/>
              </a:rPr>
              <a:t>Capture</a:t>
            </a:r>
            <a:endParaRPr lang="en-US" sz="1800" dirty="0"/>
          </a:p>
        </p:txBody>
      </p:sp>
      <p:sp>
        <p:nvSpPr>
          <p:cNvPr id="9" name="Text 7"/>
          <p:cNvSpPr/>
          <p:nvPr/>
        </p:nvSpPr>
        <p:spPr>
          <a:xfrm>
            <a:off x="685800" y="3310128"/>
            <a:ext cx="2194560" cy="658368"/>
          </a:xfrm>
          <a:prstGeom prst="rect">
            <a:avLst/>
          </a:prstGeom>
          <a:noFill/>
          <a:ln/>
        </p:spPr>
        <p:txBody>
          <a:bodyPr wrap="square" lIns="0" tIns="0" rIns="0" bIns="0" rtlCol="0" anchor="ctr"/>
          <a:lstStyle/>
          <a:p>
            <a:pPr marL="0" indent="0">
              <a:lnSpc>
                <a:spcPct val="140000"/>
              </a:lnSpc>
              <a:buNone/>
            </a:pPr>
            <a:r>
              <a:rPr lang="en-US" sz="1100" dirty="0">
                <a:solidFill>
                  <a:srgbClr val="4A5568"/>
                </a:solidFill>
                <a:latin typeface="Helvetica Neue" pitchFamily="34" charset="0"/>
                <a:ea typeface="Helvetica Neue" pitchFamily="34" charset="-122"/>
                <a:cs typeface="Helvetica Neue" pitchFamily="34" charset="-120"/>
              </a:rPr>
              <a:t>Ambient AI transcript</a:t>
            </a:r>
            <a:endParaRPr lang="en-US" sz="1100" dirty="0"/>
          </a:p>
        </p:txBody>
      </p:sp>
      <p:sp>
        <p:nvSpPr>
          <p:cNvPr id="10" name="Shape 8"/>
          <p:cNvSpPr/>
          <p:nvPr/>
        </p:nvSpPr>
        <p:spPr>
          <a:xfrm>
            <a:off x="3090672" y="3182112"/>
            <a:ext cx="182880" cy="18288"/>
          </a:xfrm>
          <a:prstGeom prst="rect">
            <a:avLst/>
          </a:prstGeom>
          <a:solidFill>
            <a:srgbClr val="4A5568"/>
          </a:solidFill>
          <a:ln/>
        </p:spPr>
      </p:sp>
      <p:sp>
        <p:nvSpPr>
          <p:cNvPr id="11" name="Shape 9"/>
          <p:cNvSpPr/>
          <p:nvPr/>
        </p:nvSpPr>
        <p:spPr>
          <a:xfrm>
            <a:off x="3227832" y="3127248"/>
            <a:ext cx="18288" cy="128016"/>
          </a:xfrm>
          <a:prstGeom prst="rect">
            <a:avLst/>
          </a:prstGeom>
          <a:solidFill>
            <a:srgbClr val="4A5568"/>
          </a:solidFill>
          <a:ln/>
        </p:spPr>
      </p:sp>
      <p:sp>
        <p:nvSpPr>
          <p:cNvPr id="12" name="Shape 10"/>
          <p:cNvSpPr/>
          <p:nvPr/>
        </p:nvSpPr>
        <p:spPr>
          <a:xfrm>
            <a:off x="3154680" y="3127248"/>
            <a:ext cx="91440" cy="18288"/>
          </a:xfrm>
          <a:prstGeom prst="rect">
            <a:avLst/>
          </a:prstGeom>
          <a:solidFill>
            <a:srgbClr val="4A5568"/>
          </a:solidFill>
          <a:ln/>
        </p:spPr>
      </p:sp>
      <p:sp>
        <p:nvSpPr>
          <p:cNvPr id="13" name="Shape 11"/>
          <p:cNvSpPr/>
          <p:nvPr/>
        </p:nvSpPr>
        <p:spPr>
          <a:xfrm>
            <a:off x="3154680" y="3236976"/>
            <a:ext cx="91440" cy="18288"/>
          </a:xfrm>
          <a:prstGeom prst="rect">
            <a:avLst/>
          </a:prstGeom>
          <a:solidFill>
            <a:srgbClr val="4A5568"/>
          </a:solidFill>
          <a:ln/>
        </p:spPr>
      </p:sp>
      <p:sp>
        <p:nvSpPr>
          <p:cNvPr id="14" name="Shape 12"/>
          <p:cNvSpPr/>
          <p:nvPr/>
        </p:nvSpPr>
        <p:spPr>
          <a:xfrm>
            <a:off x="3310128" y="2057400"/>
            <a:ext cx="2542032" cy="2331720"/>
          </a:xfrm>
          <a:prstGeom prst="rect">
            <a:avLst/>
          </a:prstGeom>
          <a:solidFill>
            <a:srgbClr val="F0F4F8"/>
          </a:solidFill>
          <a:ln w="12700">
            <a:solidFill>
              <a:srgbClr val="E2E8F0"/>
            </a:solidFill>
            <a:prstDash val="solid"/>
          </a:ln>
          <a:effectLst>
            <a:outerShdw blurRad="304800" dist="101600" dir="8100000" algn="bl" rotWithShape="0">
              <a:srgbClr val="000000">
                <a:alpha val="22000"/>
              </a:srgbClr>
            </a:outerShdw>
          </a:effectLst>
        </p:spPr>
      </p:sp>
      <p:sp>
        <p:nvSpPr>
          <p:cNvPr id="15" name="Shape 13"/>
          <p:cNvSpPr/>
          <p:nvPr/>
        </p:nvSpPr>
        <p:spPr>
          <a:xfrm>
            <a:off x="3310128" y="2057400"/>
            <a:ext cx="2542032" cy="36576"/>
          </a:xfrm>
          <a:prstGeom prst="rect">
            <a:avLst/>
          </a:prstGeom>
          <a:solidFill>
            <a:srgbClr val="2A6EC8"/>
          </a:solidFill>
          <a:ln/>
        </p:spPr>
      </p:sp>
      <p:sp>
        <p:nvSpPr>
          <p:cNvPr id="16" name="Text 14"/>
          <p:cNvSpPr/>
          <p:nvPr/>
        </p:nvSpPr>
        <p:spPr>
          <a:xfrm>
            <a:off x="3493008" y="2148840"/>
            <a:ext cx="1097280" cy="731520"/>
          </a:xfrm>
          <a:prstGeom prst="rect">
            <a:avLst/>
          </a:prstGeom>
          <a:noFill/>
          <a:ln/>
        </p:spPr>
        <p:txBody>
          <a:bodyPr wrap="square" lIns="0" tIns="0" rIns="0" bIns="0" rtlCol="0" anchor="ctr"/>
          <a:lstStyle/>
          <a:p>
            <a:pPr marL="0" indent="0">
              <a:buNone/>
            </a:pPr>
            <a:r>
              <a:rPr lang="en-US" sz="5200" dirty="0">
                <a:solidFill>
                  <a:srgbClr val="2A6EC8"/>
                </a:solidFill>
                <a:latin typeface="Helvetica Neue" pitchFamily="34" charset="0"/>
                <a:ea typeface="Helvetica Neue" pitchFamily="34" charset="-122"/>
                <a:cs typeface="Helvetica Neue" pitchFamily="34" charset="-120"/>
              </a:rPr>
              <a:t>02</a:t>
            </a:r>
            <a:endParaRPr lang="en-US" sz="5200" dirty="0"/>
          </a:p>
        </p:txBody>
      </p:sp>
      <p:sp>
        <p:nvSpPr>
          <p:cNvPr id="17" name="Text 15"/>
          <p:cNvSpPr/>
          <p:nvPr/>
        </p:nvSpPr>
        <p:spPr>
          <a:xfrm>
            <a:off x="3493008" y="2907792"/>
            <a:ext cx="2194560" cy="384048"/>
          </a:xfrm>
          <a:prstGeom prst="rect">
            <a:avLst/>
          </a:prstGeom>
          <a:noFill/>
          <a:ln/>
        </p:spPr>
        <p:txBody>
          <a:bodyPr wrap="square" lIns="0" tIns="0" rIns="0" bIns="0" rtlCol="0" anchor="ctr"/>
          <a:lstStyle/>
          <a:p>
            <a:pPr marL="0" indent="0">
              <a:buNone/>
            </a:pPr>
            <a:r>
              <a:rPr lang="en-US" sz="1800" dirty="0">
                <a:solidFill>
                  <a:srgbClr val="0A0F1E"/>
                </a:solidFill>
                <a:latin typeface="Helvetica Neue" pitchFamily="34" charset="0"/>
                <a:ea typeface="Helvetica Neue" pitchFamily="34" charset="-122"/>
                <a:cs typeface="Helvetica Neue" pitchFamily="34" charset="-120"/>
              </a:rPr>
              <a:t>Map</a:t>
            </a:r>
            <a:endParaRPr lang="en-US" sz="1800" dirty="0"/>
          </a:p>
        </p:txBody>
      </p:sp>
      <p:sp>
        <p:nvSpPr>
          <p:cNvPr id="18" name="Text 16"/>
          <p:cNvSpPr/>
          <p:nvPr/>
        </p:nvSpPr>
        <p:spPr>
          <a:xfrm>
            <a:off x="3493008" y="3310128"/>
            <a:ext cx="2194560" cy="658368"/>
          </a:xfrm>
          <a:prstGeom prst="rect">
            <a:avLst/>
          </a:prstGeom>
          <a:noFill/>
          <a:ln/>
        </p:spPr>
        <p:txBody>
          <a:bodyPr wrap="square" lIns="0" tIns="0" rIns="0" bIns="0" rtlCol="0" anchor="ctr"/>
          <a:lstStyle/>
          <a:p>
            <a:pPr marL="0" indent="0">
              <a:lnSpc>
                <a:spcPct val="140000"/>
              </a:lnSpc>
              <a:buNone/>
            </a:pPr>
            <a:r>
              <a:rPr lang="en-US" sz="1100" dirty="0">
                <a:solidFill>
                  <a:srgbClr val="4A5568"/>
                </a:solidFill>
                <a:latin typeface="Helvetica Neue" pitchFamily="34" charset="0"/>
                <a:ea typeface="Helvetica Neue" pitchFamily="34" charset="-122"/>
                <a:cs typeface="Helvetica Neue" pitchFamily="34" charset="-120"/>
              </a:rPr>
              <a:t>Audit Graph + KG traversal</a:t>
            </a:r>
            <a:endParaRPr lang="en-US" sz="1100" dirty="0"/>
          </a:p>
        </p:txBody>
      </p:sp>
      <p:sp>
        <p:nvSpPr>
          <p:cNvPr id="19" name="Shape 17"/>
          <p:cNvSpPr/>
          <p:nvPr/>
        </p:nvSpPr>
        <p:spPr>
          <a:xfrm>
            <a:off x="5897880" y="3182112"/>
            <a:ext cx="182880" cy="18288"/>
          </a:xfrm>
          <a:prstGeom prst="rect">
            <a:avLst/>
          </a:prstGeom>
          <a:solidFill>
            <a:srgbClr val="4A5568"/>
          </a:solidFill>
          <a:ln/>
        </p:spPr>
      </p:sp>
      <p:sp>
        <p:nvSpPr>
          <p:cNvPr id="20" name="Shape 18"/>
          <p:cNvSpPr/>
          <p:nvPr/>
        </p:nvSpPr>
        <p:spPr>
          <a:xfrm>
            <a:off x="6035040" y="3127248"/>
            <a:ext cx="18288" cy="128016"/>
          </a:xfrm>
          <a:prstGeom prst="rect">
            <a:avLst/>
          </a:prstGeom>
          <a:solidFill>
            <a:srgbClr val="4A5568"/>
          </a:solidFill>
          <a:ln/>
        </p:spPr>
      </p:sp>
      <p:sp>
        <p:nvSpPr>
          <p:cNvPr id="21" name="Shape 19"/>
          <p:cNvSpPr/>
          <p:nvPr/>
        </p:nvSpPr>
        <p:spPr>
          <a:xfrm>
            <a:off x="5961888" y="3127248"/>
            <a:ext cx="91440" cy="18288"/>
          </a:xfrm>
          <a:prstGeom prst="rect">
            <a:avLst/>
          </a:prstGeom>
          <a:solidFill>
            <a:srgbClr val="4A5568"/>
          </a:solidFill>
          <a:ln/>
        </p:spPr>
      </p:sp>
      <p:sp>
        <p:nvSpPr>
          <p:cNvPr id="22" name="Shape 20"/>
          <p:cNvSpPr/>
          <p:nvPr/>
        </p:nvSpPr>
        <p:spPr>
          <a:xfrm>
            <a:off x="5961888" y="3236976"/>
            <a:ext cx="91440" cy="18288"/>
          </a:xfrm>
          <a:prstGeom prst="rect">
            <a:avLst/>
          </a:prstGeom>
          <a:solidFill>
            <a:srgbClr val="4A5568"/>
          </a:solidFill>
          <a:ln/>
        </p:spPr>
      </p:sp>
      <p:sp>
        <p:nvSpPr>
          <p:cNvPr id="23" name="Shape 21"/>
          <p:cNvSpPr/>
          <p:nvPr/>
        </p:nvSpPr>
        <p:spPr>
          <a:xfrm>
            <a:off x="6108192" y="2057400"/>
            <a:ext cx="2542032" cy="2331720"/>
          </a:xfrm>
          <a:prstGeom prst="rect">
            <a:avLst/>
          </a:prstGeom>
          <a:solidFill>
            <a:srgbClr val="F0F4F8"/>
          </a:solidFill>
          <a:ln w="12700">
            <a:solidFill>
              <a:srgbClr val="E2E8F0"/>
            </a:solidFill>
            <a:prstDash val="solid"/>
          </a:ln>
          <a:effectLst>
            <a:outerShdw blurRad="304800" dist="101600" dir="8100000" algn="bl" rotWithShape="0">
              <a:srgbClr val="000000">
                <a:alpha val="22000"/>
              </a:srgbClr>
            </a:outerShdw>
          </a:effectLst>
        </p:spPr>
      </p:sp>
      <p:sp>
        <p:nvSpPr>
          <p:cNvPr id="24" name="Shape 22"/>
          <p:cNvSpPr/>
          <p:nvPr/>
        </p:nvSpPr>
        <p:spPr>
          <a:xfrm>
            <a:off x="6108192" y="2057400"/>
            <a:ext cx="2542032" cy="36576"/>
          </a:xfrm>
          <a:prstGeom prst="rect">
            <a:avLst/>
          </a:prstGeom>
          <a:solidFill>
            <a:srgbClr val="C8432A"/>
          </a:solidFill>
          <a:ln/>
        </p:spPr>
      </p:sp>
      <p:sp>
        <p:nvSpPr>
          <p:cNvPr id="25" name="Text 23"/>
          <p:cNvSpPr/>
          <p:nvPr/>
        </p:nvSpPr>
        <p:spPr>
          <a:xfrm>
            <a:off x="6291072" y="2148840"/>
            <a:ext cx="1097280" cy="731520"/>
          </a:xfrm>
          <a:prstGeom prst="rect">
            <a:avLst/>
          </a:prstGeom>
          <a:noFill/>
          <a:ln/>
        </p:spPr>
        <p:txBody>
          <a:bodyPr wrap="square" lIns="0" tIns="0" rIns="0" bIns="0" rtlCol="0" anchor="ctr"/>
          <a:lstStyle/>
          <a:p>
            <a:pPr marL="0" indent="0">
              <a:buNone/>
            </a:pPr>
            <a:r>
              <a:rPr lang="en-US" sz="5200" dirty="0">
                <a:solidFill>
                  <a:srgbClr val="C8432A"/>
                </a:solidFill>
                <a:latin typeface="Helvetica Neue" pitchFamily="34" charset="0"/>
                <a:ea typeface="Helvetica Neue" pitchFamily="34" charset="-122"/>
                <a:cs typeface="Helvetica Neue" pitchFamily="34" charset="-120"/>
              </a:rPr>
              <a:t>03</a:t>
            </a:r>
            <a:endParaRPr lang="en-US" sz="5200" dirty="0"/>
          </a:p>
        </p:txBody>
      </p:sp>
      <p:sp>
        <p:nvSpPr>
          <p:cNvPr id="26" name="Text 24"/>
          <p:cNvSpPr/>
          <p:nvPr/>
        </p:nvSpPr>
        <p:spPr>
          <a:xfrm>
            <a:off x="6291072" y="2907792"/>
            <a:ext cx="2194560" cy="384048"/>
          </a:xfrm>
          <a:prstGeom prst="rect">
            <a:avLst/>
          </a:prstGeom>
          <a:noFill/>
          <a:ln/>
        </p:spPr>
        <p:txBody>
          <a:bodyPr wrap="square" lIns="0" tIns="0" rIns="0" bIns="0" rtlCol="0" anchor="ctr"/>
          <a:lstStyle/>
          <a:p>
            <a:pPr marL="0" indent="0">
              <a:buNone/>
            </a:pPr>
            <a:r>
              <a:rPr lang="en-US" sz="1800" dirty="0">
                <a:solidFill>
                  <a:srgbClr val="0A0F1E"/>
                </a:solidFill>
                <a:latin typeface="Helvetica Neue" pitchFamily="34" charset="0"/>
                <a:ea typeface="Helvetica Neue" pitchFamily="34" charset="-122"/>
                <a:cs typeface="Helvetica Neue" pitchFamily="34" charset="-120"/>
              </a:rPr>
              <a:t>Standardise</a:t>
            </a:r>
            <a:endParaRPr lang="en-US" sz="1800" dirty="0"/>
          </a:p>
        </p:txBody>
      </p:sp>
      <p:sp>
        <p:nvSpPr>
          <p:cNvPr id="27" name="Text 25"/>
          <p:cNvSpPr/>
          <p:nvPr/>
        </p:nvSpPr>
        <p:spPr>
          <a:xfrm>
            <a:off x="6291072" y="3310128"/>
            <a:ext cx="2194560" cy="658368"/>
          </a:xfrm>
          <a:prstGeom prst="rect">
            <a:avLst/>
          </a:prstGeom>
          <a:noFill/>
          <a:ln/>
        </p:spPr>
        <p:txBody>
          <a:bodyPr wrap="square" lIns="0" tIns="0" rIns="0" bIns="0" rtlCol="0" anchor="ctr"/>
          <a:lstStyle/>
          <a:p>
            <a:pPr marL="0" indent="0">
              <a:lnSpc>
                <a:spcPct val="140000"/>
              </a:lnSpc>
              <a:buNone/>
            </a:pPr>
            <a:r>
              <a:rPr lang="en-US" sz="1100" dirty="0">
                <a:solidFill>
                  <a:srgbClr val="4A5568"/>
                </a:solidFill>
                <a:latin typeface="Helvetica Neue" pitchFamily="34" charset="0"/>
                <a:ea typeface="Helvetica Neue" pitchFamily="34" charset="-122"/>
                <a:cs typeface="Helvetica Neue" pitchFamily="34" charset="-120"/>
              </a:rPr>
              <a:t>Terminology linkage</a:t>
            </a:r>
            <a:endParaRPr lang="en-US" sz="1100" dirty="0"/>
          </a:p>
        </p:txBody>
      </p:sp>
      <p:sp>
        <p:nvSpPr>
          <p:cNvPr id="28" name="Text 26"/>
          <p:cNvSpPr/>
          <p:nvPr/>
        </p:nvSpPr>
        <p:spPr>
          <a:xfrm>
            <a:off x="502920" y="4663440"/>
            <a:ext cx="8229600" cy="274320"/>
          </a:xfrm>
          <a:prstGeom prst="rect">
            <a:avLst/>
          </a:prstGeom>
          <a:noFill/>
          <a:ln/>
        </p:spPr>
        <p:txBody>
          <a:bodyPr wrap="square" lIns="0" tIns="0" rIns="0" bIns="0" rtlCol="0" anchor="ctr"/>
          <a:lstStyle/>
          <a:p>
            <a:pPr marL="0" indent="0">
              <a:buNone/>
            </a:pPr>
            <a:r>
              <a:rPr lang="en-US" sz="1100" i="1" dirty="0">
                <a:solidFill>
                  <a:srgbClr val="4A5568"/>
                </a:solidFill>
                <a:latin typeface="Helvetica Neue" pitchFamily="34" charset="0"/>
                <a:ea typeface="Helvetica Neue" pitchFamily="34" charset="-122"/>
                <a:cs typeface="Helvetica Neue" pitchFamily="34" charset="-120"/>
              </a:rPr>
              <a:t>Not a scribe. Not a CDSS. Documentation integrity infrastructure.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502920" y="256032"/>
            <a:ext cx="4572000" cy="201168"/>
          </a:xfrm>
          <a:prstGeom prst="rect">
            <a:avLst/>
          </a:prstGeom>
          <a:noFill/>
          <a:ln/>
        </p:spPr>
        <p:txBody>
          <a:bodyPr wrap="square" lIns="0" tIns="0" rIns="0" bIns="0" rtlCol="0" anchor="ctr"/>
          <a:lstStyle/>
          <a:p>
            <a:pPr marL="0" indent="0">
              <a:buNone/>
            </a:pPr>
            <a:r>
              <a:rPr lang="en-US" sz="800" b="1" kern="0" spc="500" dirty="0">
                <a:solidFill>
                  <a:srgbClr val="9EACC0"/>
                </a:solidFill>
                <a:latin typeface="Helvetica Neue" pitchFamily="34" charset="0"/>
                <a:ea typeface="Helvetica Neue" pitchFamily="34" charset="-122"/>
                <a:cs typeface="Helvetica Neue" pitchFamily="34" charset="-120"/>
              </a:rPr>
              <a:t>IMPLEMENTATION</a:t>
            </a:r>
            <a:endParaRPr lang="en-US" sz="80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marL="0" indent="0">
              <a:buNone/>
            </a:pPr>
            <a:r>
              <a:rPr lang="en-US" sz="3200" dirty="0">
                <a:solidFill>
                  <a:srgbClr val="FFFFFF"/>
                </a:solidFill>
                <a:latin typeface="Helvetica Neue" pitchFamily="34" charset="0"/>
                <a:ea typeface="Helvetica Neue" pitchFamily="34" charset="-122"/>
                <a:cs typeface="Helvetica Neue" pitchFamily="34" charset="-120"/>
              </a:rPr>
              <a:t>The audit graph, step by step.</a:t>
            </a:r>
            <a:endParaRPr lang="en-US" sz="3200" dirty="0"/>
          </a:p>
        </p:txBody>
      </p:sp>
      <p:sp>
        <p:nvSpPr>
          <p:cNvPr id="4" name="Shape 2"/>
          <p:cNvSpPr/>
          <p:nvPr/>
        </p:nvSpPr>
        <p:spPr>
          <a:xfrm>
            <a:off x="256032" y="1481328"/>
            <a:ext cx="1481328" cy="1874520"/>
          </a:xfrm>
          <a:prstGeom prst="rect">
            <a:avLst/>
          </a:prstGeom>
          <a:solidFill>
            <a:srgbClr val="141C2E"/>
          </a:solidFill>
          <a:ln w="15240">
            <a:solidFill>
              <a:srgbClr val="9EACC0"/>
            </a:solidFill>
            <a:prstDash val="solid"/>
          </a:ln>
          <a:effectLst>
            <a:outerShdw blurRad="304800" dist="101600" dir="8100000" algn="bl" rotWithShape="0">
              <a:srgbClr val="000000">
                <a:alpha val="22000"/>
              </a:srgbClr>
            </a:outerShdw>
          </a:effectLst>
        </p:spPr>
      </p:sp>
      <p:sp>
        <p:nvSpPr>
          <p:cNvPr id="5" name="Shape 3"/>
          <p:cNvSpPr/>
          <p:nvPr/>
        </p:nvSpPr>
        <p:spPr>
          <a:xfrm>
            <a:off x="256032" y="1481328"/>
            <a:ext cx="1481328" cy="36576"/>
          </a:xfrm>
          <a:prstGeom prst="rect">
            <a:avLst/>
          </a:prstGeom>
          <a:solidFill>
            <a:srgbClr val="9EACC0"/>
          </a:solidFill>
          <a:ln/>
        </p:spPr>
      </p:sp>
      <p:sp>
        <p:nvSpPr>
          <p:cNvPr id="6" name="Shape 4"/>
          <p:cNvSpPr/>
          <p:nvPr/>
        </p:nvSpPr>
        <p:spPr>
          <a:xfrm>
            <a:off x="795528" y="1645920"/>
            <a:ext cx="402336" cy="402336"/>
          </a:xfrm>
          <a:prstGeom prst="ellipse">
            <a:avLst/>
          </a:prstGeom>
          <a:solidFill>
            <a:srgbClr val="9EACC0">
              <a:alpha val="20000"/>
            </a:srgbClr>
          </a:solidFill>
          <a:ln w="12700">
            <a:solidFill>
              <a:srgbClr val="9EACC0"/>
            </a:solidFill>
            <a:prstDash val="solid"/>
          </a:ln>
        </p:spPr>
      </p:sp>
      <p:sp>
        <p:nvSpPr>
          <p:cNvPr id="7" name="Text 5"/>
          <p:cNvSpPr/>
          <p:nvPr/>
        </p:nvSpPr>
        <p:spPr>
          <a:xfrm>
            <a:off x="795528" y="1645920"/>
            <a:ext cx="402336" cy="402336"/>
          </a:xfrm>
          <a:prstGeom prst="rect">
            <a:avLst/>
          </a:prstGeom>
          <a:noFill/>
          <a:ln/>
        </p:spPr>
        <p:txBody>
          <a:bodyPr wrap="square" lIns="0" tIns="0" rIns="0" bIns="0" rtlCol="0" anchor="ctr"/>
          <a:lstStyle/>
          <a:p>
            <a:pPr marL="0" indent="0" algn="ctr">
              <a:buNone/>
            </a:pPr>
            <a:r>
              <a:rPr lang="en-US" sz="1300" dirty="0">
                <a:solidFill>
                  <a:srgbClr val="9EACC0"/>
                </a:solidFill>
                <a:latin typeface="Helvetica Neue" pitchFamily="34" charset="0"/>
                <a:ea typeface="Helvetica Neue" pitchFamily="34" charset="-122"/>
                <a:cs typeface="Helvetica Neue" pitchFamily="34" charset="-120"/>
              </a:rPr>
              <a:t>1</a:t>
            </a:r>
            <a:endParaRPr lang="en-US" sz="1300" dirty="0"/>
          </a:p>
        </p:txBody>
      </p:sp>
      <p:sp>
        <p:nvSpPr>
          <p:cNvPr id="8" name="Text 6"/>
          <p:cNvSpPr/>
          <p:nvPr/>
        </p:nvSpPr>
        <p:spPr>
          <a:xfrm>
            <a:off x="347472" y="2176272"/>
            <a:ext cx="1298448" cy="566928"/>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Ambient</a:t>
            </a:r>
            <a:endParaRPr lang="en-US" sz="1250" dirty="0"/>
          </a:p>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AI Note</a:t>
            </a:r>
            <a:endParaRPr lang="en-US" sz="1250" dirty="0"/>
          </a:p>
        </p:txBody>
      </p:sp>
      <p:sp>
        <p:nvSpPr>
          <p:cNvPr id="9" name="Text 7"/>
          <p:cNvSpPr/>
          <p:nvPr/>
        </p:nvSpPr>
        <p:spPr>
          <a:xfrm>
            <a:off x="347472" y="2743200"/>
            <a:ext cx="1298448" cy="548640"/>
          </a:xfrm>
          <a:prstGeom prst="rect">
            <a:avLst/>
          </a:prstGeom>
          <a:noFill/>
          <a:ln/>
        </p:spPr>
        <p:txBody>
          <a:bodyPr wrap="square" lIns="0" tIns="0" rIns="0" bIns="0" rtlCol="0" anchor="ctr"/>
          <a:lstStyle/>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LOINC structured</a:t>
            </a:r>
            <a:endParaRPr lang="en-US" sz="900" dirty="0"/>
          </a:p>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JSON input</a:t>
            </a:r>
            <a:endParaRPr lang="en-US" sz="900" dirty="0"/>
          </a:p>
        </p:txBody>
      </p:sp>
      <p:sp>
        <p:nvSpPr>
          <p:cNvPr id="10" name="Shape 8"/>
          <p:cNvSpPr/>
          <p:nvPr/>
        </p:nvSpPr>
        <p:spPr>
          <a:xfrm>
            <a:off x="1773936" y="2409444"/>
            <a:ext cx="73152" cy="18288"/>
          </a:xfrm>
          <a:prstGeom prst="rect">
            <a:avLst/>
          </a:prstGeom>
          <a:solidFill>
            <a:srgbClr val="9EACC0"/>
          </a:solidFill>
          <a:ln/>
        </p:spPr>
      </p:sp>
      <p:sp>
        <p:nvSpPr>
          <p:cNvPr id="11" name="Shape 9"/>
          <p:cNvSpPr/>
          <p:nvPr/>
        </p:nvSpPr>
        <p:spPr>
          <a:xfrm>
            <a:off x="1828800" y="2345436"/>
            <a:ext cx="18288" cy="146304"/>
          </a:xfrm>
          <a:prstGeom prst="rect">
            <a:avLst/>
          </a:prstGeom>
          <a:solidFill>
            <a:srgbClr val="9EACC0"/>
          </a:solidFill>
          <a:ln/>
        </p:spPr>
      </p:sp>
      <p:sp>
        <p:nvSpPr>
          <p:cNvPr id="12" name="Shape 10"/>
          <p:cNvSpPr/>
          <p:nvPr/>
        </p:nvSpPr>
        <p:spPr>
          <a:xfrm>
            <a:off x="1810512" y="2345436"/>
            <a:ext cx="45720" cy="18288"/>
          </a:xfrm>
          <a:prstGeom prst="rect">
            <a:avLst/>
          </a:prstGeom>
          <a:solidFill>
            <a:srgbClr val="9EACC0"/>
          </a:solidFill>
          <a:ln/>
        </p:spPr>
      </p:sp>
      <p:sp>
        <p:nvSpPr>
          <p:cNvPr id="13" name="Shape 11"/>
          <p:cNvSpPr/>
          <p:nvPr/>
        </p:nvSpPr>
        <p:spPr>
          <a:xfrm>
            <a:off x="1810512" y="2473452"/>
            <a:ext cx="45720" cy="18288"/>
          </a:xfrm>
          <a:prstGeom prst="rect">
            <a:avLst/>
          </a:prstGeom>
          <a:solidFill>
            <a:srgbClr val="9EACC0"/>
          </a:solidFill>
          <a:ln/>
        </p:spPr>
      </p:sp>
      <p:sp>
        <p:nvSpPr>
          <p:cNvPr id="14" name="Shape 12"/>
          <p:cNvSpPr/>
          <p:nvPr/>
        </p:nvSpPr>
        <p:spPr>
          <a:xfrm>
            <a:off x="1993392" y="1481328"/>
            <a:ext cx="1481328" cy="1874520"/>
          </a:xfrm>
          <a:prstGeom prst="rect">
            <a:avLst/>
          </a:prstGeom>
          <a:solidFill>
            <a:srgbClr val="141C2E"/>
          </a:solidFill>
          <a:ln w="15240">
            <a:solidFill>
              <a:srgbClr val="2A6EC8"/>
            </a:solidFill>
            <a:prstDash val="solid"/>
          </a:ln>
          <a:effectLst>
            <a:outerShdw blurRad="304800" dist="101600" dir="8100000" algn="bl" rotWithShape="0">
              <a:srgbClr val="000000">
                <a:alpha val="22000"/>
              </a:srgbClr>
            </a:outerShdw>
          </a:effectLst>
        </p:spPr>
      </p:sp>
      <p:sp>
        <p:nvSpPr>
          <p:cNvPr id="15" name="Shape 13"/>
          <p:cNvSpPr/>
          <p:nvPr/>
        </p:nvSpPr>
        <p:spPr>
          <a:xfrm>
            <a:off x="1993392" y="1481328"/>
            <a:ext cx="1481328" cy="36576"/>
          </a:xfrm>
          <a:prstGeom prst="rect">
            <a:avLst/>
          </a:prstGeom>
          <a:solidFill>
            <a:srgbClr val="2A6EC8"/>
          </a:solidFill>
          <a:ln/>
        </p:spPr>
      </p:sp>
      <p:sp>
        <p:nvSpPr>
          <p:cNvPr id="16" name="Shape 14"/>
          <p:cNvSpPr/>
          <p:nvPr/>
        </p:nvSpPr>
        <p:spPr>
          <a:xfrm>
            <a:off x="2532888" y="1645920"/>
            <a:ext cx="402336" cy="402336"/>
          </a:xfrm>
          <a:prstGeom prst="ellipse">
            <a:avLst/>
          </a:prstGeom>
          <a:solidFill>
            <a:srgbClr val="2A6EC8">
              <a:alpha val="20000"/>
            </a:srgbClr>
          </a:solidFill>
          <a:ln w="12700">
            <a:solidFill>
              <a:srgbClr val="2A6EC8"/>
            </a:solidFill>
            <a:prstDash val="solid"/>
          </a:ln>
        </p:spPr>
      </p:sp>
      <p:sp>
        <p:nvSpPr>
          <p:cNvPr id="17" name="Text 15"/>
          <p:cNvSpPr/>
          <p:nvPr/>
        </p:nvSpPr>
        <p:spPr>
          <a:xfrm>
            <a:off x="2532888" y="1645920"/>
            <a:ext cx="402336" cy="402336"/>
          </a:xfrm>
          <a:prstGeom prst="rect">
            <a:avLst/>
          </a:prstGeom>
          <a:noFill/>
          <a:ln/>
        </p:spPr>
        <p:txBody>
          <a:bodyPr wrap="square" lIns="0" tIns="0" rIns="0" bIns="0" rtlCol="0" anchor="ctr"/>
          <a:lstStyle/>
          <a:p>
            <a:pPr marL="0" indent="0" algn="ctr">
              <a:buNone/>
            </a:pPr>
            <a:r>
              <a:rPr lang="en-US" sz="1300" dirty="0">
                <a:solidFill>
                  <a:srgbClr val="2A6EC8"/>
                </a:solidFill>
                <a:latin typeface="Helvetica Neue" pitchFamily="34" charset="0"/>
                <a:ea typeface="Helvetica Neue" pitchFamily="34" charset="-122"/>
                <a:cs typeface="Helvetica Neue" pitchFamily="34" charset="-120"/>
              </a:rPr>
              <a:t>2</a:t>
            </a:r>
            <a:endParaRPr lang="en-US" sz="1300" dirty="0"/>
          </a:p>
        </p:txBody>
      </p:sp>
      <p:sp>
        <p:nvSpPr>
          <p:cNvPr id="18" name="Text 16"/>
          <p:cNvSpPr/>
          <p:nvPr/>
        </p:nvSpPr>
        <p:spPr>
          <a:xfrm>
            <a:off x="2084832" y="2176272"/>
            <a:ext cx="1298448" cy="566928"/>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Entity</a:t>
            </a:r>
            <a:endParaRPr lang="en-US" sz="1250" dirty="0"/>
          </a:p>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Extraction</a:t>
            </a:r>
            <a:endParaRPr lang="en-US" sz="1250" dirty="0"/>
          </a:p>
        </p:txBody>
      </p:sp>
      <p:sp>
        <p:nvSpPr>
          <p:cNvPr id="19" name="Text 17"/>
          <p:cNvSpPr/>
          <p:nvPr/>
        </p:nvSpPr>
        <p:spPr>
          <a:xfrm>
            <a:off x="2084832" y="2743200"/>
            <a:ext cx="1298448" cy="548640"/>
          </a:xfrm>
          <a:prstGeom prst="rect">
            <a:avLst/>
          </a:prstGeom>
          <a:noFill/>
          <a:ln/>
        </p:spPr>
        <p:txBody>
          <a:bodyPr wrap="square" lIns="0" tIns="0" rIns="0" bIns="0" rtlCol="0" anchor="ctr"/>
          <a:lstStyle/>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UMLS CUI</a:t>
            </a:r>
            <a:endParaRPr lang="en-US" sz="900" dirty="0"/>
          </a:p>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mapping &lt;5ms</a:t>
            </a:r>
            <a:endParaRPr lang="en-US" sz="900" dirty="0"/>
          </a:p>
        </p:txBody>
      </p:sp>
      <p:sp>
        <p:nvSpPr>
          <p:cNvPr id="20" name="Shape 18"/>
          <p:cNvSpPr/>
          <p:nvPr/>
        </p:nvSpPr>
        <p:spPr>
          <a:xfrm>
            <a:off x="3511296" y="2409444"/>
            <a:ext cx="73152" cy="18288"/>
          </a:xfrm>
          <a:prstGeom prst="rect">
            <a:avLst/>
          </a:prstGeom>
          <a:solidFill>
            <a:srgbClr val="9EACC0"/>
          </a:solidFill>
          <a:ln/>
        </p:spPr>
      </p:sp>
      <p:sp>
        <p:nvSpPr>
          <p:cNvPr id="21" name="Shape 19"/>
          <p:cNvSpPr/>
          <p:nvPr/>
        </p:nvSpPr>
        <p:spPr>
          <a:xfrm>
            <a:off x="3566160" y="2345436"/>
            <a:ext cx="18288" cy="146304"/>
          </a:xfrm>
          <a:prstGeom prst="rect">
            <a:avLst/>
          </a:prstGeom>
          <a:solidFill>
            <a:srgbClr val="9EACC0"/>
          </a:solidFill>
          <a:ln/>
        </p:spPr>
      </p:sp>
      <p:sp>
        <p:nvSpPr>
          <p:cNvPr id="22" name="Shape 20"/>
          <p:cNvSpPr/>
          <p:nvPr/>
        </p:nvSpPr>
        <p:spPr>
          <a:xfrm>
            <a:off x="3547872" y="2345436"/>
            <a:ext cx="45720" cy="18288"/>
          </a:xfrm>
          <a:prstGeom prst="rect">
            <a:avLst/>
          </a:prstGeom>
          <a:solidFill>
            <a:srgbClr val="9EACC0"/>
          </a:solidFill>
          <a:ln/>
        </p:spPr>
      </p:sp>
      <p:sp>
        <p:nvSpPr>
          <p:cNvPr id="23" name="Shape 21"/>
          <p:cNvSpPr/>
          <p:nvPr/>
        </p:nvSpPr>
        <p:spPr>
          <a:xfrm>
            <a:off x="3547872" y="2473452"/>
            <a:ext cx="45720" cy="18288"/>
          </a:xfrm>
          <a:prstGeom prst="rect">
            <a:avLst/>
          </a:prstGeom>
          <a:solidFill>
            <a:srgbClr val="9EACC0"/>
          </a:solidFill>
          <a:ln/>
        </p:spPr>
      </p:sp>
      <p:sp>
        <p:nvSpPr>
          <p:cNvPr id="24" name="Shape 22"/>
          <p:cNvSpPr/>
          <p:nvPr/>
        </p:nvSpPr>
        <p:spPr>
          <a:xfrm>
            <a:off x="3730752" y="1481328"/>
            <a:ext cx="1481328" cy="1874520"/>
          </a:xfrm>
          <a:prstGeom prst="rect">
            <a:avLst/>
          </a:prstGeom>
          <a:solidFill>
            <a:srgbClr val="141C2E"/>
          </a:solidFill>
          <a:ln w="15240">
            <a:solidFill>
              <a:srgbClr val="2A6EC8"/>
            </a:solidFill>
            <a:prstDash val="solid"/>
          </a:ln>
          <a:effectLst>
            <a:outerShdw blurRad="304800" dist="101600" dir="8100000" algn="bl" rotWithShape="0">
              <a:srgbClr val="000000">
                <a:alpha val="22000"/>
              </a:srgbClr>
            </a:outerShdw>
          </a:effectLst>
        </p:spPr>
      </p:sp>
      <p:sp>
        <p:nvSpPr>
          <p:cNvPr id="25" name="Shape 23"/>
          <p:cNvSpPr/>
          <p:nvPr/>
        </p:nvSpPr>
        <p:spPr>
          <a:xfrm>
            <a:off x="3730752" y="1481328"/>
            <a:ext cx="1481328" cy="36576"/>
          </a:xfrm>
          <a:prstGeom prst="rect">
            <a:avLst/>
          </a:prstGeom>
          <a:solidFill>
            <a:srgbClr val="2A6EC8"/>
          </a:solidFill>
          <a:ln/>
        </p:spPr>
      </p:sp>
      <p:sp>
        <p:nvSpPr>
          <p:cNvPr id="26" name="Shape 24"/>
          <p:cNvSpPr/>
          <p:nvPr/>
        </p:nvSpPr>
        <p:spPr>
          <a:xfrm>
            <a:off x="4270248" y="1645920"/>
            <a:ext cx="402336" cy="402336"/>
          </a:xfrm>
          <a:prstGeom prst="ellipse">
            <a:avLst/>
          </a:prstGeom>
          <a:solidFill>
            <a:srgbClr val="2A6EC8">
              <a:alpha val="20000"/>
            </a:srgbClr>
          </a:solidFill>
          <a:ln w="12700">
            <a:solidFill>
              <a:srgbClr val="2A6EC8"/>
            </a:solidFill>
            <a:prstDash val="solid"/>
          </a:ln>
        </p:spPr>
      </p:sp>
      <p:sp>
        <p:nvSpPr>
          <p:cNvPr id="27" name="Text 25"/>
          <p:cNvSpPr/>
          <p:nvPr/>
        </p:nvSpPr>
        <p:spPr>
          <a:xfrm>
            <a:off x="4270248" y="1645920"/>
            <a:ext cx="402336" cy="402336"/>
          </a:xfrm>
          <a:prstGeom prst="rect">
            <a:avLst/>
          </a:prstGeom>
          <a:noFill/>
          <a:ln/>
        </p:spPr>
        <p:txBody>
          <a:bodyPr wrap="square" lIns="0" tIns="0" rIns="0" bIns="0" rtlCol="0" anchor="ctr"/>
          <a:lstStyle/>
          <a:p>
            <a:pPr marL="0" indent="0" algn="ctr">
              <a:buNone/>
            </a:pPr>
            <a:r>
              <a:rPr lang="en-US" sz="1300" dirty="0">
                <a:solidFill>
                  <a:srgbClr val="2A6EC8"/>
                </a:solidFill>
                <a:latin typeface="Helvetica Neue" pitchFamily="34" charset="0"/>
                <a:ea typeface="Helvetica Neue" pitchFamily="34" charset="-122"/>
                <a:cs typeface="Helvetica Neue" pitchFamily="34" charset="-120"/>
              </a:rPr>
              <a:t>3</a:t>
            </a:r>
            <a:endParaRPr lang="en-US" sz="1300" dirty="0"/>
          </a:p>
        </p:txBody>
      </p:sp>
      <p:sp>
        <p:nvSpPr>
          <p:cNvPr id="28" name="Text 26"/>
          <p:cNvSpPr/>
          <p:nvPr/>
        </p:nvSpPr>
        <p:spPr>
          <a:xfrm>
            <a:off x="3822192" y="2176272"/>
            <a:ext cx="1298448" cy="566928"/>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Audit</a:t>
            </a:r>
            <a:endParaRPr lang="en-US" sz="1250" dirty="0"/>
          </a:p>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Graph</a:t>
            </a:r>
            <a:endParaRPr lang="en-US" sz="1250" dirty="0"/>
          </a:p>
        </p:txBody>
      </p:sp>
      <p:sp>
        <p:nvSpPr>
          <p:cNvPr id="29" name="Text 27"/>
          <p:cNvSpPr/>
          <p:nvPr/>
        </p:nvSpPr>
        <p:spPr>
          <a:xfrm>
            <a:off x="3822192" y="2743200"/>
            <a:ext cx="1298448" cy="548640"/>
          </a:xfrm>
          <a:prstGeom prst="rect">
            <a:avLst/>
          </a:prstGeom>
          <a:noFill/>
          <a:ln/>
        </p:spPr>
        <p:txBody>
          <a:bodyPr wrap="square" lIns="0" tIns="0" rIns="0" bIns="0" rtlCol="0" anchor="ctr"/>
          <a:lstStyle/>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KG traversal</a:t>
            </a:r>
            <a:endParaRPr lang="en-US" sz="900" dirty="0"/>
          </a:p>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2-hop relationship</a:t>
            </a:r>
            <a:endParaRPr lang="en-US" sz="900" dirty="0"/>
          </a:p>
        </p:txBody>
      </p:sp>
      <p:sp>
        <p:nvSpPr>
          <p:cNvPr id="30" name="Shape 28"/>
          <p:cNvSpPr/>
          <p:nvPr/>
        </p:nvSpPr>
        <p:spPr>
          <a:xfrm>
            <a:off x="5248656" y="2409444"/>
            <a:ext cx="73152" cy="18288"/>
          </a:xfrm>
          <a:prstGeom prst="rect">
            <a:avLst/>
          </a:prstGeom>
          <a:solidFill>
            <a:srgbClr val="9EACC0"/>
          </a:solidFill>
          <a:ln/>
        </p:spPr>
      </p:sp>
      <p:sp>
        <p:nvSpPr>
          <p:cNvPr id="31" name="Shape 29"/>
          <p:cNvSpPr/>
          <p:nvPr/>
        </p:nvSpPr>
        <p:spPr>
          <a:xfrm>
            <a:off x="5303520" y="2345436"/>
            <a:ext cx="18288" cy="146304"/>
          </a:xfrm>
          <a:prstGeom prst="rect">
            <a:avLst/>
          </a:prstGeom>
          <a:solidFill>
            <a:srgbClr val="9EACC0"/>
          </a:solidFill>
          <a:ln/>
        </p:spPr>
      </p:sp>
      <p:sp>
        <p:nvSpPr>
          <p:cNvPr id="32" name="Shape 30"/>
          <p:cNvSpPr/>
          <p:nvPr/>
        </p:nvSpPr>
        <p:spPr>
          <a:xfrm>
            <a:off x="5285232" y="2345436"/>
            <a:ext cx="45720" cy="18288"/>
          </a:xfrm>
          <a:prstGeom prst="rect">
            <a:avLst/>
          </a:prstGeom>
          <a:solidFill>
            <a:srgbClr val="9EACC0"/>
          </a:solidFill>
          <a:ln/>
        </p:spPr>
      </p:sp>
      <p:sp>
        <p:nvSpPr>
          <p:cNvPr id="33" name="Shape 31"/>
          <p:cNvSpPr/>
          <p:nvPr/>
        </p:nvSpPr>
        <p:spPr>
          <a:xfrm>
            <a:off x="5285232" y="2473452"/>
            <a:ext cx="45720" cy="18288"/>
          </a:xfrm>
          <a:prstGeom prst="rect">
            <a:avLst/>
          </a:prstGeom>
          <a:solidFill>
            <a:srgbClr val="9EACC0"/>
          </a:solidFill>
          <a:ln/>
        </p:spPr>
      </p:sp>
      <p:sp>
        <p:nvSpPr>
          <p:cNvPr id="34" name="Shape 32"/>
          <p:cNvSpPr/>
          <p:nvPr/>
        </p:nvSpPr>
        <p:spPr>
          <a:xfrm>
            <a:off x="5468112" y="1481328"/>
            <a:ext cx="1481328" cy="1874520"/>
          </a:xfrm>
          <a:prstGeom prst="rect">
            <a:avLst/>
          </a:prstGeom>
          <a:solidFill>
            <a:srgbClr val="141C2E"/>
          </a:solidFill>
          <a:ln w="15240">
            <a:solidFill>
              <a:srgbClr val="C8432A"/>
            </a:solidFill>
            <a:prstDash val="solid"/>
          </a:ln>
          <a:effectLst>
            <a:outerShdw blurRad="304800" dist="101600" dir="8100000" algn="bl" rotWithShape="0">
              <a:srgbClr val="000000">
                <a:alpha val="22000"/>
              </a:srgbClr>
            </a:outerShdw>
          </a:effectLst>
        </p:spPr>
      </p:sp>
      <p:sp>
        <p:nvSpPr>
          <p:cNvPr id="35" name="Shape 33"/>
          <p:cNvSpPr/>
          <p:nvPr/>
        </p:nvSpPr>
        <p:spPr>
          <a:xfrm>
            <a:off x="5468112" y="1481328"/>
            <a:ext cx="1481328" cy="36576"/>
          </a:xfrm>
          <a:prstGeom prst="rect">
            <a:avLst/>
          </a:prstGeom>
          <a:solidFill>
            <a:srgbClr val="C8432A"/>
          </a:solidFill>
          <a:ln/>
        </p:spPr>
      </p:sp>
      <p:sp>
        <p:nvSpPr>
          <p:cNvPr id="36" name="Shape 34"/>
          <p:cNvSpPr/>
          <p:nvPr/>
        </p:nvSpPr>
        <p:spPr>
          <a:xfrm>
            <a:off x="6007608" y="1645920"/>
            <a:ext cx="402336" cy="402336"/>
          </a:xfrm>
          <a:prstGeom prst="ellipse">
            <a:avLst/>
          </a:prstGeom>
          <a:solidFill>
            <a:srgbClr val="C8432A">
              <a:alpha val="20000"/>
            </a:srgbClr>
          </a:solidFill>
          <a:ln w="12700">
            <a:solidFill>
              <a:srgbClr val="C8432A"/>
            </a:solidFill>
            <a:prstDash val="solid"/>
          </a:ln>
        </p:spPr>
      </p:sp>
      <p:sp>
        <p:nvSpPr>
          <p:cNvPr id="37" name="Text 35"/>
          <p:cNvSpPr/>
          <p:nvPr/>
        </p:nvSpPr>
        <p:spPr>
          <a:xfrm>
            <a:off x="6007608" y="1645920"/>
            <a:ext cx="402336" cy="402336"/>
          </a:xfrm>
          <a:prstGeom prst="rect">
            <a:avLst/>
          </a:prstGeom>
          <a:noFill/>
          <a:ln/>
        </p:spPr>
        <p:txBody>
          <a:bodyPr wrap="square" lIns="0" tIns="0" rIns="0" bIns="0" rtlCol="0" anchor="ctr"/>
          <a:lstStyle/>
          <a:p>
            <a:pPr marL="0" indent="0" algn="ctr">
              <a:buNone/>
            </a:pPr>
            <a:r>
              <a:rPr lang="en-US" sz="1300" dirty="0">
                <a:solidFill>
                  <a:srgbClr val="C8432A"/>
                </a:solidFill>
                <a:latin typeface="Helvetica Neue" pitchFamily="34" charset="0"/>
                <a:ea typeface="Helvetica Neue" pitchFamily="34" charset="-122"/>
                <a:cs typeface="Helvetica Neue" pitchFamily="34" charset="-120"/>
              </a:rPr>
              <a:t>4</a:t>
            </a:r>
            <a:endParaRPr lang="en-US" sz="1300" dirty="0"/>
          </a:p>
        </p:txBody>
      </p:sp>
      <p:sp>
        <p:nvSpPr>
          <p:cNvPr id="38" name="Text 36"/>
          <p:cNvSpPr/>
          <p:nvPr/>
        </p:nvSpPr>
        <p:spPr>
          <a:xfrm>
            <a:off x="5559552" y="2176272"/>
            <a:ext cx="1298448" cy="566928"/>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Terminology</a:t>
            </a:r>
            <a:endParaRPr lang="en-US" sz="1250" dirty="0"/>
          </a:p>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Link</a:t>
            </a:r>
            <a:endParaRPr lang="en-US" sz="1250" dirty="0"/>
          </a:p>
        </p:txBody>
      </p:sp>
      <p:sp>
        <p:nvSpPr>
          <p:cNvPr id="39" name="Text 37"/>
          <p:cNvSpPr/>
          <p:nvPr/>
        </p:nvSpPr>
        <p:spPr>
          <a:xfrm>
            <a:off x="5559552" y="2743200"/>
            <a:ext cx="1298448" cy="548640"/>
          </a:xfrm>
          <a:prstGeom prst="rect">
            <a:avLst/>
          </a:prstGeom>
          <a:noFill/>
          <a:ln/>
        </p:spPr>
        <p:txBody>
          <a:bodyPr wrap="square" lIns="0" tIns="0" rIns="0" bIns="0" rtlCol="0" anchor="ctr"/>
          <a:lstStyle/>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Standardised term</a:t>
            </a:r>
            <a:endParaRPr lang="en-US" sz="900" dirty="0"/>
          </a:p>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 code matched</a:t>
            </a:r>
            <a:endParaRPr lang="en-US" sz="900" dirty="0"/>
          </a:p>
        </p:txBody>
      </p:sp>
      <p:sp>
        <p:nvSpPr>
          <p:cNvPr id="40" name="Shape 38"/>
          <p:cNvSpPr/>
          <p:nvPr/>
        </p:nvSpPr>
        <p:spPr>
          <a:xfrm>
            <a:off x="6986016" y="2409444"/>
            <a:ext cx="73152" cy="18288"/>
          </a:xfrm>
          <a:prstGeom prst="rect">
            <a:avLst/>
          </a:prstGeom>
          <a:solidFill>
            <a:srgbClr val="9EACC0"/>
          </a:solidFill>
          <a:ln/>
        </p:spPr>
      </p:sp>
      <p:sp>
        <p:nvSpPr>
          <p:cNvPr id="41" name="Shape 39"/>
          <p:cNvSpPr/>
          <p:nvPr/>
        </p:nvSpPr>
        <p:spPr>
          <a:xfrm>
            <a:off x="7040880" y="2345436"/>
            <a:ext cx="18288" cy="146304"/>
          </a:xfrm>
          <a:prstGeom prst="rect">
            <a:avLst/>
          </a:prstGeom>
          <a:solidFill>
            <a:srgbClr val="9EACC0"/>
          </a:solidFill>
          <a:ln/>
        </p:spPr>
      </p:sp>
      <p:sp>
        <p:nvSpPr>
          <p:cNvPr id="42" name="Shape 40"/>
          <p:cNvSpPr/>
          <p:nvPr/>
        </p:nvSpPr>
        <p:spPr>
          <a:xfrm>
            <a:off x="7022592" y="2345436"/>
            <a:ext cx="45720" cy="18288"/>
          </a:xfrm>
          <a:prstGeom prst="rect">
            <a:avLst/>
          </a:prstGeom>
          <a:solidFill>
            <a:srgbClr val="9EACC0"/>
          </a:solidFill>
          <a:ln/>
        </p:spPr>
      </p:sp>
      <p:sp>
        <p:nvSpPr>
          <p:cNvPr id="43" name="Shape 41"/>
          <p:cNvSpPr/>
          <p:nvPr/>
        </p:nvSpPr>
        <p:spPr>
          <a:xfrm>
            <a:off x="7022592" y="2473452"/>
            <a:ext cx="45720" cy="18288"/>
          </a:xfrm>
          <a:prstGeom prst="rect">
            <a:avLst/>
          </a:prstGeom>
          <a:solidFill>
            <a:srgbClr val="9EACC0"/>
          </a:solidFill>
          <a:ln/>
        </p:spPr>
      </p:sp>
      <p:sp>
        <p:nvSpPr>
          <p:cNvPr id="44" name="Shape 42"/>
          <p:cNvSpPr/>
          <p:nvPr/>
        </p:nvSpPr>
        <p:spPr>
          <a:xfrm>
            <a:off x="7205472" y="1481328"/>
            <a:ext cx="1481328" cy="1874520"/>
          </a:xfrm>
          <a:prstGeom prst="rect">
            <a:avLst/>
          </a:prstGeom>
          <a:solidFill>
            <a:srgbClr val="141C2E"/>
          </a:solidFill>
          <a:ln w="15240">
            <a:solidFill>
              <a:srgbClr val="2AC87E"/>
            </a:solidFill>
            <a:prstDash val="solid"/>
          </a:ln>
          <a:effectLst>
            <a:outerShdw blurRad="304800" dist="101600" dir="8100000" algn="bl" rotWithShape="0">
              <a:srgbClr val="000000">
                <a:alpha val="22000"/>
              </a:srgbClr>
            </a:outerShdw>
          </a:effectLst>
        </p:spPr>
      </p:sp>
      <p:sp>
        <p:nvSpPr>
          <p:cNvPr id="45" name="Shape 43"/>
          <p:cNvSpPr/>
          <p:nvPr/>
        </p:nvSpPr>
        <p:spPr>
          <a:xfrm>
            <a:off x="7205472" y="1481328"/>
            <a:ext cx="1481328" cy="36576"/>
          </a:xfrm>
          <a:prstGeom prst="rect">
            <a:avLst/>
          </a:prstGeom>
          <a:solidFill>
            <a:srgbClr val="2AC87E"/>
          </a:solidFill>
          <a:ln/>
        </p:spPr>
      </p:sp>
      <p:sp>
        <p:nvSpPr>
          <p:cNvPr id="46" name="Shape 44"/>
          <p:cNvSpPr/>
          <p:nvPr/>
        </p:nvSpPr>
        <p:spPr>
          <a:xfrm>
            <a:off x="7744968" y="1645920"/>
            <a:ext cx="402336" cy="402336"/>
          </a:xfrm>
          <a:prstGeom prst="ellipse">
            <a:avLst/>
          </a:prstGeom>
          <a:solidFill>
            <a:srgbClr val="2AC87E">
              <a:alpha val="20000"/>
            </a:srgbClr>
          </a:solidFill>
          <a:ln w="12700">
            <a:solidFill>
              <a:srgbClr val="2AC87E"/>
            </a:solidFill>
            <a:prstDash val="solid"/>
          </a:ln>
        </p:spPr>
      </p:sp>
      <p:sp>
        <p:nvSpPr>
          <p:cNvPr id="47" name="Text 45"/>
          <p:cNvSpPr/>
          <p:nvPr/>
        </p:nvSpPr>
        <p:spPr>
          <a:xfrm>
            <a:off x="7744968" y="1645920"/>
            <a:ext cx="402336" cy="402336"/>
          </a:xfrm>
          <a:prstGeom prst="rect">
            <a:avLst/>
          </a:prstGeom>
          <a:noFill/>
          <a:ln/>
        </p:spPr>
        <p:txBody>
          <a:bodyPr wrap="square" lIns="0" tIns="0" rIns="0" bIns="0" rtlCol="0" anchor="ctr"/>
          <a:lstStyle/>
          <a:p>
            <a:pPr marL="0" indent="0" algn="ctr">
              <a:buNone/>
            </a:pPr>
            <a:r>
              <a:rPr lang="en-US" sz="1300" dirty="0">
                <a:solidFill>
                  <a:srgbClr val="2AC87E"/>
                </a:solidFill>
                <a:latin typeface="Helvetica Neue" pitchFamily="34" charset="0"/>
                <a:ea typeface="Helvetica Neue" pitchFamily="34" charset="-122"/>
                <a:cs typeface="Helvetica Neue" pitchFamily="34" charset="-120"/>
              </a:rPr>
              <a:t>5</a:t>
            </a:r>
            <a:endParaRPr lang="en-US" sz="1300" dirty="0"/>
          </a:p>
        </p:txBody>
      </p:sp>
      <p:sp>
        <p:nvSpPr>
          <p:cNvPr id="48" name="Text 46"/>
          <p:cNvSpPr/>
          <p:nvPr/>
        </p:nvSpPr>
        <p:spPr>
          <a:xfrm>
            <a:off x="7296912" y="2176272"/>
            <a:ext cx="1298448" cy="566928"/>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CDI</a:t>
            </a:r>
            <a:endParaRPr lang="en-US" sz="1250" dirty="0"/>
          </a:p>
          <a:p>
            <a:pPr marL="0" indent="0" algn="ctr">
              <a:lnSpc>
                <a:spcPct val="120000"/>
              </a:lnSpc>
              <a:buNone/>
            </a:pPr>
            <a:r>
              <a:rPr lang="en-US" sz="1250" dirty="0">
                <a:solidFill>
                  <a:srgbClr val="FFFFFF"/>
                </a:solidFill>
                <a:latin typeface="Helvetica Neue" pitchFamily="34" charset="0"/>
                <a:ea typeface="Helvetica Neue" pitchFamily="34" charset="-122"/>
                <a:cs typeface="Helvetica Neue" pitchFamily="34" charset="-120"/>
              </a:rPr>
              <a:t>Review</a:t>
            </a:r>
            <a:endParaRPr lang="en-US" sz="1250" dirty="0"/>
          </a:p>
        </p:txBody>
      </p:sp>
      <p:sp>
        <p:nvSpPr>
          <p:cNvPr id="49" name="Text 47"/>
          <p:cNvSpPr/>
          <p:nvPr/>
        </p:nvSpPr>
        <p:spPr>
          <a:xfrm>
            <a:off x="7296912" y="2743200"/>
            <a:ext cx="1298448" cy="548640"/>
          </a:xfrm>
          <a:prstGeom prst="rect">
            <a:avLst/>
          </a:prstGeom>
          <a:noFill/>
          <a:ln/>
        </p:spPr>
        <p:txBody>
          <a:bodyPr wrap="square" lIns="0" tIns="0" rIns="0" bIns="0" rtlCol="0" anchor="ctr"/>
          <a:lstStyle/>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Audit trail</a:t>
            </a:r>
            <a:endParaRPr lang="en-US" sz="900" dirty="0"/>
          </a:p>
          <a:p>
            <a:pPr marL="0" indent="0" algn="ctr">
              <a:lnSpc>
                <a:spcPct val="135000"/>
              </a:lnSpc>
              <a:buNone/>
            </a:pPr>
            <a:r>
              <a:rPr lang="en-US" sz="900" dirty="0">
                <a:solidFill>
                  <a:srgbClr val="9EACC0"/>
                </a:solidFill>
                <a:latin typeface="Helvetica Neue" pitchFamily="34" charset="0"/>
                <a:ea typeface="Helvetica Neue" pitchFamily="34" charset="-122"/>
                <a:cs typeface="Helvetica Neue" pitchFamily="34" charset="-120"/>
              </a:rPr>
              <a:t>for specialist</a:t>
            </a:r>
            <a:endParaRPr lang="en-US" sz="900" dirty="0"/>
          </a:p>
        </p:txBody>
      </p:sp>
      <p:sp>
        <p:nvSpPr>
          <p:cNvPr id="50" name="Shape 48"/>
          <p:cNvSpPr/>
          <p:nvPr/>
        </p:nvSpPr>
        <p:spPr>
          <a:xfrm>
            <a:off x="0" y="3547872"/>
            <a:ext cx="9144000" cy="1069848"/>
          </a:xfrm>
          <a:prstGeom prst="rect">
            <a:avLst/>
          </a:prstGeom>
          <a:solidFill>
            <a:srgbClr val="080C18"/>
          </a:solidFill>
          <a:ln/>
        </p:spPr>
      </p:sp>
      <p:sp>
        <p:nvSpPr>
          <p:cNvPr id="51" name="Shape 49"/>
          <p:cNvSpPr/>
          <p:nvPr/>
        </p:nvSpPr>
        <p:spPr>
          <a:xfrm>
            <a:off x="256032" y="3547872"/>
            <a:ext cx="36576" cy="1069848"/>
          </a:xfrm>
          <a:prstGeom prst="rect">
            <a:avLst/>
          </a:prstGeom>
          <a:solidFill>
            <a:srgbClr val="C8432A"/>
          </a:solidFill>
          <a:ln/>
        </p:spPr>
      </p:sp>
      <p:sp>
        <p:nvSpPr>
          <p:cNvPr id="52" name="Text 50"/>
          <p:cNvSpPr/>
          <p:nvPr/>
        </p:nvSpPr>
        <p:spPr>
          <a:xfrm>
            <a:off x="411480" y="3703320"/>
            <a:ext cx="8503920" cy="384048"/>
          </a:xfrm>
          <a:prstGeom prst="rect">
            <a:avLst/>
          </a:prstGeom>
          <a:noFill/>
          <a:ln/>
        </p:spPr>
        <p:txBody>
          <a:bodyPr wrap="square" lIns="0" tIns="0" rIns="0" bIns="0" rtlCol="0" anchor="ctr"/>
          <a:lstStyle/>
          <a:p>
            <a:pPr marL="0" indent="0">
              <a:buNone/>
            </a:pPr>
            <a:r>
              <a:rPr lang="en-US" sz="1100" dirty="0">
                <a:solidFill>
                  <a:srgbClr val="FFFFFF"/>
                </a:solidFill>
                <a:latin typeface="Helvetica Neue" pitchFamily="34" charset="0"/>
                <a:ea typeface="Helvetica Neue" pitchFamily="34" charset="-122"/>
                <a:cs typeface="Helvetica Neue" pitchFamily="34" charset="-120"/>
              </a:rPr>
              <a:t>T2DM  +  Bilateral Edema</a:t>
            </a:r>
            <a:r>
              <a:rPr lang="en-US" sz="1100" dirty="0">
                <a:solidFill>
                  <a:srgbClr val="9EACC0"/>
                </a:solidFill>
                <a:latin typeface="Helvetica Neue" pitchFamily="34" charset="0"/>
                <a:ea typeface="Helvetica Neue" pitchFamily="34" charset="-122"/>
                <a:cs typeface="Helvetica Neue" pitchFamily="34" charset="-120"/>
              </a:rPr>
              <a:t>   →   </a:t>
            </a:r>
            <a:r>
              <a:rPr lang="en-US" sz="1100" dirty="0">
                <a:solidFill>
                  <a:srgbClr val="2A6EC8"/>
                </a:solidFill>
                <a:latin typeface="Helvetica Neue" pitchFamily="34" charset="0"/>
                <a:ea typeface="Helvetica Neue" pitchFamily="34" charset="-122"/>
                <a:cs typeface="Helvetica Neue" pitchFamily="34" charset="-120"/>
              </a:rPr>
              <a:t>Audit graph finds CKD relationship</a:t>
            </a:r>
            <a:r>
              <a:rPr lang="en-US" sz="1100" dirty="0">
                <a:solidFill>
                  <a:srgbClr val="9EACC0"/>
                </a:solidFill>
                <a:latin typeface="Helvetica Neue" pitchFamily="34" charset="0"/>
                <a:ea typeface="Helvetica Neue" pitchFamily="34" charset="-122"/>
                <a:cs typeface="Helvetica Neue" pitchFamily="34" charset="-120"/>
              </a:rPr>
              <a:t>   →   </a:t>
            </a:r>
            <a:r>
              <a:rPr lang="en-US" sz="1100" dirty="0">
                <a:solidFill>
                  <a:srgbClr val="C8432A"/>
                </a:solidFill>
                <a:latin typeface="Helvetica Neue" pitchFamily="34" charset="0"/>
                <a:ea typeface="Helvetica Neue" pitchFamily="34" charset="-122"/>
                <a:cs typeface="Helvetica Neue" pitchFamily="34" charset="-120"/>
              </a:rPr>
              <a:t>Terminology: Diabetic Nephropathy with Edema</a:t>
            </a:r>
            <a:r>
              <a:rPr lang="en-US" sz="1100" dirty="0">
                <a:solidFill>
                  <a:srgbClr val="9EACC0"/>
                </a:solidFill>
                <a:latin typeface="Helvetica Neue" pitchFamily="34" charset="0"/>
                <a:ea typeface="Helvetica Neue" pitchFamily="34" charset="-122"/>
                <a:cs typeface="Helvetica Neue" pitchFamily="34" charset="-120"/>
              </a:rPr>
              <a:t>   →   </a:t>
            </a:r>
            <a:r>
              <a:rPr lang="en-US" sz="1100" dirty="0">
                <a:solidFill>
                  <a:srgbClr val="2AC87E"/>
                </a:solidFill>
                <a:latin typeface="Helvetica Neue" pitchFamily="34" charset="0"/>
                <a:ea typeface="Helvetica Neue" pitchFamily="34" charset="-122"/>
                <a:cs typeface="Helvetica Neue" pitchFamily="34" charset="-120"/>
              </a:rPr>
              <a:t>CDI specialist confirms</a:t>
            </a:r>
            <a:endParaRPr lang="en-US" sz="1100" dirty="0"/>
          </a:p>
        </p:txBody>
      </p:sp>
      <p:sp>
        <p:nvSpPr>
          <p:cNvPr id="53" name="Text 51"/>
          <p:cNvSpPr/>
          <p:nvPr/>
        </p:nvSpPr>
        <p:spPr>
          <a:xfrm>
            <a:off x="411480" y="4224528"/>
            <a:ext cx="8229600" cy="256032"/>
          </a:xfrm>
          <a:prstGeom prst="rect">
            <a:avLst/>
          </a:prstGeom>
          <a:noFill/>
          <a:ln/>
        </p:spPr>
        <p:txBody>
          <a:bodyPr wrap="square" lIns="0" tIns="0" rIns="0" bIns="0" rtlCol="0" anchor="ctr"/>
          <a:lstStyle/>
          <a:p>
            <a:pPr marL="0" indent="0">
              <a:buNone/>
            </a:pPr>
            <a:r>
              <a:rPr lang="en-US" sz="900" i="1" dirty="0">
                <a:solidFill>
                  <a:srgbClr val="9EACC0"/>
                </a:solidFill>
                <a:latin typeface="Helvetica Neue" pitchFamily="34" charset="0"/>
                <a:ea typeface="Helvetica Neue" pitchFamily="34" charset="-122"/>
                <a:cs typeface="Helvetica Neue" pitchFamily="34" charset="-120"/>
              </a:rPr>
              <a:t>Demo scenario · note_gap.json · &lt;300ms end-to-end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A0F1E"/>
          </a:solidFill>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kern="0" spc="500" dirty="0">
                <a:solidFill>
                  <a:srgbClr val="4A5568"/>
                </a:solidFill>
                <a:latin typeface="Helvetica Neue" pitchFamily="34" charset="0"/>
                <a:ea typeface="Helvetica Neue" pitchFamily="34" charset="-122"/>
                <a:cs typeface="Helvetica Neue" pitchFamily="34" charset="-120"/>
              </a:rPr>
              <a:t>COMPETITIVE POSITION</a:t>
            </a:r>
            <a:endParaRPr lang="en-US" sz="800" dirty="0"/>
          </a:p>
        </p:txBody>
      </p:sp>
      <p:sp>
        <p:nvSpPr>
          <p:cNvPr id="4" name="Text 2"/>
          <p:cNvSpPr/>
          <p:nvPr/>
        </p:nvSpPr>
        <p:spPr>
          <a:xfrm>
            <a:off x="502920" y="502920"/>
            <a:ext cx="3108960" cy="777240"/>
          </a:xfrm>
          <a:prstGeom prst="rect">
            <a:avLst/>
          </a:prstGeom>
          <a:noFill/>
          <a:ln/>
        </p:spPr>
        <p:txBody>
          <a:bodyPr wrap="square" lIns="0" tIns="0" rIns="0" bIns="0" rtlCol="0" anchor="ctr"/>
          <a:lstStyle/>
          <a:p>
            <a:pPr marL="0" indent="0">
              <a:lnSpc>
                <a:spcPct val="110000"/>
              </a:lnSpc>
              <a:buNone/>
            </a:pPr>
            <a:r>
              <a:rPr lang="en-US" sz="3200" dirty="0">
                <a:solidFill>
                  <a:srgbClr val="0A0F1E"/>
                </a:solidFill>
                <a:latin typeface="Helvetica Neue" pitchFamily="34" charset="0"/>
                <a:ea typeface="Helvetica Neue" pitchFamily="34" charset="-122"/>
                <a:cs typeface="Helvetica Neue" pitchFamily="34" charset="-120"/>
              </a:rPr>
              <a:t>The Gap</a:t>
            </a:r>
            <a:endParaRPr lang="en-US" sz="3200" dirty="0"/>
          </a:p>
        </p:txBody>
      </p:sp>
      <p:sp>
        <p:nvSpPr>
          <p:cNvPr id="5" name="Text 3"/>
          <p:cNvSpPr/>
          <p:nvPr/>
        </p:nvSpPr>
        <p:spPr>
          <a:xfrm>
            <a:off x="3794760" y="292608"/>
            <a:ext cx="1005840" cy="658368"/>
          </a:xfrm>
          <a:prstGeom prst="rect">
            <a:avLst/>
          </a:prstGeom>
          <a:noFill/>
          <a:ln/>
        </p:spPr>
        <p:txBody>
          <a:bodyPr wrap="square" lIns="0" tIns="0" rIns="0" bIns="0" rtlCol="0" anchor="ctr"/>
          <a:lstStyle/>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Ambient</a:t>
            </a:r>
            <a:endParaRPr lang="en-US" sz="850" dirty="0"/>
          </a:p>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Transcription</a:t>
            </a:r>
            <a:endParaRPr lang="en-US" sz="850" dirty="0"/>
          </a:p>
        </p:txBody>
      </p:sp>
      <p:sp>
        <p:nvSpPr>
          <p:cNvPr id="6" name="Text 4"/>
          <p:cNvSpPr/>
          <p:nvPr/>
        </p:nvSpPr>
        <p:spPr>
          <a:xfrm>
            <a:off x="4983480" y="292608"/>
            <a:ext cx="1005840" cy="658368"/>
          </a:xfrm>
          <a:prstGeom prst="rect">
            <a:avLst/>
          </a:prstGeom>
          <a:noFill/>
          <a:ln/>
        </p:spPr>
        <p:txBody>
          <a:bodyPr wrap="square" lIns="0" tIns="0" rIns="0" bIns="0" rtlCol="0" anchor="ctr"/>
          <a:lstStyle/>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CDI</a:t>
            </a:r>
            <a:endParaRPr lang="en-US" sz="850" dirty="0"/>
          </a:p>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Enrichment</a:t>
            </a:r>
            <a:endParaRPr lang="en-US" sz="850" dirty="0"/>
          </a:p>
        </p:txBody>
      </p:sp>
      <p:sp>
        <p:nvSpPr>
          <p:cNvPr id="7" name="Text 5"/>
          <p:cNvSpPr/>
          <p:nvPr/>
        </p:nvSpPr>
        <p:spPr>
          <a:xfrm>
            <a:off x="6172200" y="292608"/>
            <a:ext cx="1005840" cy="658368"/>
          </a:xfrm>
          <a:prstGeom prst="rect">
            <a:avLst/>
          </a:prstGeom>
          <a:noFill/>
          <a:ln/>
        </p:spPr>
        <p:txBody>
          <a:bodyPr wrap="square" lIns="0" tIns="0" rIns="0" bIns="0" rtlCol="0" anchor="ctr"/>
          <a:lstStyle/>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Platform</a:t>
            </a:r>
            <a:endParaRPr lang="en-US" sz="850" dirty="0"/>
          </a:p>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Neutral</a:t>
            </a:r>
            <a:endParaRPr lang="en-US" sz="850" dirty="0"/>
          </a:p>
        </p:txBody>
      </p:sp>
      <p:sp>
        <p:nvSpPr>
          <p:cNvPr id="8" name="Text 6"/>
          <p:cNvSpPr/>
          <p:nvPr/>
        </p:nvSpPr>
        <p:spPr>
          <a:xfrm>
            <a:off x="7360920" y="292608"/>
            <a:ext cx="1005840" cy="658368"/>
          </a:xfrm>
          <a:prstGeom prst="rect">
            <a:avLst/>
          </a:prstGeom>
          <a:noFill/>
          <a:ln/>
        </p:spPr>
        <p:txBody>
          <a:bodyPr wrap="square" lIns="0" tIns="0" rIns="0" bIns="0" rtlCol="0" anchor="ctr"/>
          <a:lstStyle/>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No FDA</a:t>
            </a:r>
            <a:endParaRPr lang="en-US" sz="850" dirty="0"/>
          </a:p>
          <a:p>
            <a:pPr marL="0" indent="0" algn="ctr">
              <a:lnSpc>
                <a:spcPct val="130000"/>
              </a:lnSpc>
              <a:buNone/>
            </a:pPr>
            <a:r>
              <a:rPr lang="en-US" sz="850" dirty="0">
                <a:solidFill>
                  <a:srgbClr val="4A5568"/>
                </a:solidFill>
                <a:latin typeface="Helvetica Neue" pitchFamily="34" charset="0"/>
                <a:ea typeface="Helvetica Neue" pitchFamily="34" charset="-122"/>
                <a:cs typeface="Helvetica Neue" pitchFamily="34" charset="-120"/>
              </a:rPr>
              <a:t>Pathway</a:t>
            </a:r>
            <a:endParaRPr lang="en-US" sz="850" dirty="0"/>
          </a:p>
        </p:txBody>
      </p:sp>
      <p:sp>
        <p:nvSpPr>
          <p:cNvPr id="9" name="Shape 7"/>
          <p:cNvSpPr/>
          <p:nvPr/>
        </p:nvSpPr>
        <p:spPr>
          <a:xfrm>
            <a:off x="502920" y="1389888"/>
            <a:ext cx="8229600" cy="658368"/>
          </a:xfrm>
          <a:prstGeom prst="rect">
            <a:avLst/>
          </a:prstGeom>
          <a:solidFill>
            <a:srgbClr val="F0F4F8"/>
          </a:solidFill>
          <a:ln w="12700">
            <a:solidFill>
              <a:srgbClr val="E2E8F0"/>
            </a:solidFill>
            <a:prstDash val="solid"/>
          </a:ln>
        </p:spPr>
      </p:sp>
      <p:sp>
        <p:nvSpPr>
          <p:cNvPr id="10" name="Text 8"/>
          <p:cNvSpPr/>
          <p:nvPr/>
        </p:nvSpPr>
        <p:spPr>
          <a:xfrm>
            <a:off x="658368" y="1554480"/>
            <a:ext cx="2926080" cy="347472"/>
          </a:xfrm>
          <a:prstGeom prst="rect">
            <a:avLst/>
          </a:prstGeom>
          <a:noFill/>
          <a:ln/>
        </p:spPr>
        <p:txBody>
          <a:bodyPr wrap="square" lIns="0" tIns="0" rIns="0" bIns="0" rtlCol="0" anchor="ctr"/>
          <a:lstStyle/>
          <a:p>
            <a:pPr marL="0" indent="0">
              <a:buNone/>
            </a:pPr>
            <a:r>
              <a:rPr lang="en-US" sz="1300" dirty="0">
                <a:solidFill>
                  <a:srgbClr val="0A0F1E"/>
                </a:solidFill>
                <a:latin typeface="Helvetica Neue" pitchFamily="34" charset="0"/>
                <a:ea typeface="Helvetica Neue" pitchFamily="34" charset="-122"/>
                <a:cs typeface="Helvetica Neue" pitchFamily="34" charset="-120"/>
              </a:rPr>
              <a:t>Ambient AI tools</a:t>
            </a:r>
            <a:endParaRPr lang="en-US" sz="1300" dirty="0"/>
          </a:p>
        </p:txBody>
      </p:sp>
      <p:sp>
        <p:nvSpPr>
          <p:cNvPr id="11" name="Text 9"/>
          <p:cNvSpPr/>
          <p:nvPr/>
        </p:nvSpPr>
        <p:spPr>
          <a:xfrm>
            <a:off x="3794760" y="1536192"/>
            <a:ext cx="1005840" cy="365760"/>
          </a:xfrm>
          <a:prstGeom prst="rect">
            <a:avLst/>
          </a:prstGeom>
          <a:noFill/>
          <a:ln/>
        </p:spPr>
        <p:txBody>
          <a:bodyPr wrap="square" lIns="0" tIns="0" rIns="0" bIns="0" rtlCol="0" anchor="ctr"/>
          <a:lstStyle/>
          <a:p>
            <a:pPr marL="0" indent="0" algn="ctr">
              <a:buNone/>
            </a:pPr>
            <a:r>
              <a:rPr lang="en-US" sz="1800" dirty="0">
                <a:solidFill>
                  <a:srgbClr val="2A6EC8"/>
                </a:solidFill>
                <a:latin typeface="Helvetica Neue" pitchFamily="34" charset="0"/>
                <a:ea typeface="Helvetica Neue" pitchFamily="34" charset="-122"/>
                <a:cs typeface="Helvetica Neue" pitchFamily="34" charset="-120"/>
              </a:rPr>
              <a:t>●</a:t>
            </a:r>
            <a:endParaRPr lang="en-US" sz="1800" dirty="0"/>
          </a:p>
        </p:txBody>
      </p:sp>
      <p:sp>
        <p:nvSpPr>
          <p:cNvPr id="12" name="Text 10"/>
          <p:cNvSpPr/>
          <p:nvPr/>
        </p:nvSpPr>
        <p:spPr>
          <a:xfrm>
            <a:off x="4983480" y="1536192"/>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13" name="Text 11"/>
          <p:cNvSpPr/>
          <p:nvPr/>
        </p:nvSpPr>
        <p:spPr>
          <a:xfrm>
            <a:off x="6172200" y="1536192"/>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14" name="Text 12"/>
          <p:cNvSpPr/>
          <p:nvPr/>
        </p:nvSpPr>
        <p:spPr>
          <a:xfrm>
            <a:off x="7360920" y="1536192"/>
            <a:ext cx="1005840" cy="365760"/>
          </a:xfrm>
          <a:prstGeom prst="rect">
            <a:avLst/>
          </a:prstGeom>
          <a:noFill/>
          <a:ln/>
        </p:spPr>
        <p:txBody>
          <a:bodyPr wrap="square" lIns="0" tIns="0" rIns="0" bIns="0" rtlCol="0" anchor="ctr"/>
          <a:lstStyle/>
          <a:p>
            <a:pPr marL="0" indent="0" algn="ctr">
              <a:buNone/>
            </a:pPr>
            <a:r>
              <a:rPr lang="en-US" sz="1800" dirty="0">
                <a:solidFill>
                  <a:srgbClr val="2A6EC8"/>
                </a:solidFill>
                <a:latin typeface="Helvetica Neue" pitchFamily="34" charset="0"/>
                <a:ea typeface="Helvetica Neue" pitchFamily="34" charset="-122"/>
                <a:cs typeface="Helvetica Neue" pitchFamily="34" charset="-120"/>
              </a:rPr>
              <a:t>●</a:t>
            </a:r>
            <a:endParaRPr lang="en-US" sz="1800" dirty="0"/>
          </a:p>
        </p:txBody>
      </p:sp>
      <p:sp>
        <p:nvSpPr>
          <p:cNvPr id="15" name="Shape 13"/>
          <p:cNvSpPr/>
          <p:nvPr/>
        </p:nvSpPr>
        <p:spPr>
          <a:xfrm>
            <a:off x="502920" y="2139696"/>
            <a:ext cx="8229600" cy="658368"/>
          </a:xfrm>
          <a:prstGeom prst="rect">
            <a:avLst/>
          </a:prstGeom>
          <a:solidFill>
            <a:srgbClr val="FFFFFF"/>
          </a:solidFill>
          <a:ln w="12700">
            <a:solidFill>
              <a:srgbClr val="E2E8F0"/>
            </a:solidFill>
            <a:prstDash val="solid"/>
          </a:ln>
        </p:spPr>
      </p:sp>
      <p:sp>
        <p:nvSpPr>
          <p:cNvPr id="16" name="Text 14"/>
          <p:cNvSpPr/>
          <p:nvPr/>
        </p:nvSpPr>
        <p:spPr>
          <a:xfrm>
            <a:off x="658368" y="2304288"/>
            <a:ext cx="2926080" cy="347472"/>
          </a:xfrm>
          <a:prstGeom prst="rect">
            <a:avLst/>
          </a:prstGeom>
          <a:noFill/>
          <a:ln/>
        </p:spPr>
        <p:txBody>
          <a:bodyPr wrap="square" lIns="0" tIns="0" rIns="0" bIns="0" rtlCol="0" anchor="ctr"/>
          <a:lstStyle/>
          <a:p>
            <a:pPr marL="0" indent="0">
              <a:buNone/>
            </a:pPr>
            <a:r>
              <a:rPr lang="en-US" sz="1300" dirty="0">
                <a:solidFill>
                  <a:srgbClr val="0A0F1E"/>
                </a:solidFill>
                <a:latin typeface="Helvetica Neue" pitchFamily="34" charset="0"/>
                <a:ea typeface="Helvetica Neue" pitchFamily="34" charset="-122"/>
                <a:cs typeface="Helvetica Neue" pitchFamily="34" charset="-120"/>
              </a:rPr>
              <a:t>3M / Legacy CDI</a:t>
            </a:r>
            <a:endParaRPr lang="en-US" sz="1300" dirty="0"/>
          </a:p>
        </p:txBody>
      </p:sp>
      <p:sp>
        <p:nvSpPr>
          <p:cNvPr id="17" name="Text 15"/>
          <p:cNvSpPr/>
          <p:nvPr/>
        </p:nvSpPr>
        <p:spPr>
          <a:xfrm>
            <a:off x="3794760" y="2286000"/>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18" name="Text 16"/>
          <p:cNvSpPr/>
          <p:nvPr/>
        </p:nvSpPr>
        <p:spPr>
          <a:xfrm>
            <a:off x="4983480" y="2286000"/>
            <a:ext cx="1005840" cy="365760"/>
          </a:xfrm>
          <a:prstGeom prst="rect">
            <a:avLst/>
          </a:prstGeom>
          <a:noFill/>
          <a:ln/>
        </p:spPr>
        <p:txBody>
          <a:bodyPr wrap="square" lIns="0" tIns="0" rIns="0" bIns="0" rtlCol="0" anchor="ctr"/>
          <a:lstStyle/>
          <a:p>
            <a:pPr marL="0" indent="0" algn="ctr">
              <a:buNone/>
            </a:pPr>
            <a:r>
              <a:rPr lang="en-US" sz="1800" dirty="0">
                <a:solidFill>
                  <a:srgbClr val="2A6EC8"/>
                </a:solidFill>
                <a:latin typeface="Helvetica Neue" pitchFamily="34" charset="0"/>
                <a:ea typeface="Helvetica Neue" pitchFamily="34" charset="-122"/>
                <a:cs typeface="Helvetica Neue" pitchFamily="34" charset="-120"/>
              </a:rPr>
              <a:t>●</a:t>
            </a:r>
            <a:endParaRPr lang="en-US" sz="1800" dirty="0"/>
          </a:p>
        </p:txBody>
      </p:sp>
      <p:sp>
        <p:nvSpPr>
          <p:cNvPr id="19" name="Text 17"/>
          <p:cNvSpPr/>
          <p:nvPr/>
        </p:nvSpPr>
        <p:spPr>
          <a:xfrm>
            <a:off x="6172200" y="2286000"/>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20" name="Text 18"/>
          <p:cNvSpPr/>
          <p:nvPr/>
        </p:nvSpPr>
        <p:spPr>
          <a:xfrm>
            <a:off x="7360920" y="2286000"/>
            <a:ext cx="1005840" cy="365760"/>
          </a:xfrm>
          <a:prstGeom prst="rect">
            <a:avLst/>
          </a:prstGeom>
          <a:noFill/>
          <a:ln/>
        </p:spPr>
        <p:txBody>
          <a:bodyPr wrap="square" lIns="0" tIns="0" rIns="0" bIns="0" rtlCol="0" anchor="ctr"/>
          <a:lstStyle/>
          <a:p>
            <a:pPr marL="0" indent="0" algn="ctr">
              <a:buNone/>
            </a:pPr>
            <a:r>
              <a:rPr lang="en-US" sz="1800" dirty="0">
                <a:solidFill>
                  <a:srgbClr val="2A6EC8"/>
                </a:solidFill>
                <a:latin typeface="Helvetica Neue" pitchFamily="34" charset="0"/>
                <a:ea typeface="Helvetica Neue" pitchFamily="34" charset="-122"/>
                <a:cs typeface="Helvetica Neue" pitchFamily="34" charset="-120"/>
              </a:rPr>
              <a:t>●</a:t>
            </a:r>
            <a:endParaRPr lang="en-US" sz="1800" dirty="0"/>
          </a:p>
        </p:txBody>
      </p:sp>
      <p:sp>
        <p:nvSpPr>
          <p:cNvPr id="21" name="Shape 19"/>
          <p:cNvSpPr/>
          <p:nvPr/>
        </p:nvSpPr>
        <p:spPr>
          <a:xfrm>
            <a:off x="502920" y="2889504"/>
            <a:ext cx="8229600" cy="658368"/>
          </a:xfrm>
          <a:prstGeom prst="rect">
            <a:avLst/>
          </a:prstGeom>
          <a:solidFill>
            <a:srgbClr val="F0F4F8"/>
          </a:solidFill>
          <a:ln w="12700">
            <a:solidFill>
              <a:srgbClr val="E2E8F0"/>
            </a:solidFill>
            <a:prstDash val="solid"/>
          </a:ln>
        </p:spPr>
      </p:sp>
      <p:sp>
        <p:nvSpPr>
          <p:cNvPr id="22" name="Text 20"/>
          <p:cNvSpPr/>
          <p:nvPr/>
        </p:nvSpPr>
        <p:spPr>
          <a:xfrm>
            <a:off x="658368" y="3054096"/>
            <a:ext cx="2926080" cy="347472"/>
          </a:xfrm>
          <a:prstGeom prst="rect">
            <a:avLst/>
          </a:prstGeom>
          <a:noFill/>
          <a:ln/>
        </p:spPr>
        <p:txBody>
          <a:bodyPr wrap="square" lIns="0" tIns="0" rIns="0" bIns="0" rtlCol="0" anchor="ctr"/>
          <a:lstStyle/>
          <a:p>
            <a:pPr marL="0" indent="0">
              <a:buNone/>
            </a:pPr>
            <a:r>
              <a:rPr lang="en-US" sz="1300" dirty="0">
                <a:solidFill>
                  <a:srgbClr val="0A0F1E"/>
                </a:solidFill>
                <a:latin typeface="Helvetica Neue" pitchFamily="34" charset="0"/>
                <a:ea typeface="Helvetica Neue" pitchFamily="34" charset="-122"/>
                <a:cs typeface="Helvetica Neue" pitchFamily="34" charset="-120"/>
              </a:rPr>
              <a:t>General RAG / LLMs</a:t>
            </a:r>
            <a:endParaRPr lang="en-US" sz="1300" dirty="0"/>
          </a:p>
        </p:txBody>
      </p:sp>
      <p:sp>
        <p:nvSpPr>
          <p:cNvPr id="23" name="Text 21"/>
          <p:cNvSpPr/>
          <p:nvPr/>
        </p:nvSpPr>
        <p:spPr>
          <a:xfrm>
            <a:off x="3794760" y="3035808"/>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24" name="Text 22"/>
          <p:cNvSpPr/>
          <p:nvPr/>
        </p:nvSpPr>
        <p:spPr>
          <a:xfrm>
            <a:off x="4983480" y="3035808"/>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25" name="Text 23"/>
          <p:cNvSpPr/>
          <p:nvPr/>
        </p:nvSpPr>
        <p:spPr>
          <a:xfrm>
            <a:off x="6172200" y="3035808"/>
            <a:ext cx="1005840" cy="365760"/>
          </a:xfrm>
          <a:prstGeom prst="rect">
            <a:avLst/>
          </a:prstGeom>
          <a:noFill/>
          <a:ln/>
        </p:spPr>
        <p:txBody>
          <a:bodyPr wrap="square" lIns="0" tIns="0" rIns="0" bIns="0" rtlCol="0" anchor="ctr"/>
          <a:lstStyle/>
          <a:p>
            <a:pPr marL="0" indent="0" algn="ctr">
              <a:buNone/>
            </a:pPr>
            <a:r>
              <a:rPr lang="en-US" sz="1800" dirty="0">
                <a:solidFill>
                  <a:srgbClr val="2A6EC8"/>
                </a:solidFill>
                <a:latin typeface="Helvetica Neue" pitchFamily="34" charset="0"/>
                <a:ea typeface="Helvetica Neue" pitchFamily="34" charset="-122"/>
                <a:cs typeface="Helvetica Neue" pitchFamily="34" charset="-120"/>
              </a:rPr>
              <a:t>●</a:t>
            </a:r>
            <a:endParaRPr lang="en-US" sz="1800" dirty="0"/>
          </a:p>
        </p:txBody>
      </p:sp>
      <p:sp>
        <p:nvSpPr>
          <p:cNvPr id="26" name="Text 24"/>
          <p:cNvSpPr/>
          <p:nvPr/>
        </p:nvSpPr>
        <p:spPr>
          <a:xfrm>
            <a:off x="7360920" y="3035808"/>
            <a:ext cx="1005840" cy="365760"/>
          </a:xfrm>
          <a:prstGeom prst="rect">
            <a:avLst/>
          </a:prstGeom>
          <a:noFill/>
          <a:ln/>
        </p:spPr>
        <p:txBody>
          <a:bodyPr wrap="square" lIns="0" tIns="0" rIns="0" bIns="0" rtlCol="0" anchor="ctr"/>
          <a:lstStyle/>
          <a:p>
            <a:pPr marL="0" indent="0" algn="ctr">
              <a:buNone/>
            </a:pPr>
            <a:r>
              <a:rPr lang="en-US" sz="1800" dirty="0">
                <a:solidFill>
                  <a:srgbClr val="D1D5DB"/>
                </a:solidFill>
                <a:latin typeface="Helvetica Neue" pitchFamily="34" charset="0"/>
                <a:ea typeface="Helvetica Neue" pitchFamily="34" charset="-122"/>
                <a:cs typeface="Helvetica Neue" pitchFamily="34" charset="-120"/>
              </a:rPr>
              <a:t>○</a:t>
            </a:r>
            <a:endParaRPr lang="en-US" sz="1800" dirty="0"/>
          </a:p>
        </p:txBody>
      </p:sp>
      <p:sp>
        <p:nvSpPr>
          <p:cNvPr id="27" name="Shape 25"/>
          <p:cNvSpPr/>
          <p:nvPr/>
        </p:nvSpPr>
        <p:spPr>
          <a:xfrm>
            <a:off x="502920" y="3639312"/>
            <a:ext cx="8229600" cy="658368"/>
          </a:xfrm>
          <a:prstGeom prst="rect">
            <a:avLst/>
          </a:prstGeom>
          <a:solidFill>
            <a:srgbClr val="0A0F1E"/>
          </a:solidFill>
          <a:ln w="12700">
            <a:solidFill>
              <a:srgbClr val="0A0F1E"/>
            </a:solidFill>
            <a:prstDash val="solid"/>
          </a:ln>
        </p:spPr>
      </p:sp>
      <p:sp>
        <p:nvSpPr>
          <p:cNvPr id="28" name="Shape 26"/>
          <p:cNvSpPr/>
          <p:nvPr/>
        </p:nvSpPr>
        <p:spPr>
          <a:xfrm>
            <a:off x="502920" y="3639312"/>
            <a:ext cx="36576" cy="658368"/>
          </a:xfrm>
          <a:prstGeom prst="rect">
            <a:avLst/>
          </a:prstGeom>
          <a:solidFill>
            <a:srgbClr val="2A6EC8"/>
          </a:solidFill>
          <a:ln/>
        </p:spPr>
      </p:sp>
      <p:sp>
        <p:nvSpPr>
          <p:cNvPr id="29" name="Text 27"/>
          <p:cNvSpPr/>
          <p:nvPr/>
        </p:nvSpPr>
        <p:spPr>
          <a:xfrm>
            <a:off x="658368" y="3803904"/>
            <a:ext cx="2926080" cy="347472"/>
          </a:xfrm>
          <a:prstGeom prst="rect">
            <a:avLst/>
          </a:prstGeom>
          <a:noFill/>
          <a:ln/>
        </p:spPr>
        <p:txBody>
          <a:bodyPr wrap="square" lIns="0" tIns="0" rIns="0" bIns="0" rtlCol="0" anchor="ctr"/>
          <a:lstStyle/>
          <a:p>
            <a:pPr marL="0" indent="0">
              <a:buNone/>
            </a:pPr>
            <a:r>
              <a:rPr lang="en-US" sz="1300" b="1" dirty="0">
                <a:solidFill>
                  <a:srgbClr val="FFFFFF"/>
                </a:solidFill>
                <a:latin typeface="Helvetica Neue" pitchFamily="34" charset="0"/>
                <a:ea typeface="Helvetica Neue" pitchFamily="34" charset="-122"/>
                <a:cs typeface="Helvetica Neue" pitchFamily="34" charset="-120"/>
              </a:rPr>
              <a:t>SymptoMap</a:t>
            </a:r>
            <a:endParaRPr lang="en-US" sz="1300" dirty="0"/>
          </a:p>
        </p:txBody>
      </p:sp>
      <p:sp>
        <p:nvSpPr>
          <p:cNvPr id="30" name="Text 28"/>
          <p:cNvSpPr/>
          <p:nvPr/>
        </p:nvSpPr>
        <p:spPr>
          <a:xfrm>
            <a:off x="3794760" y="3785616"/>
            <a:ext cx="1005840" cy="365760"/>
          </a:xfrm>
          <a:prstGeom prst="rect">
            <a:avLst/>
          </a:prstGeom>
          <a:noFill/>
          <a:ln/>
        </p:spPr>
        <p:txBody>
          <a:bodyPr wrap="square" lIns="0" tIns="0" rIns="0" bIns="0" rtlCol="0" anchor="ctr"/>
          <a:lstStyle/>
          <a:p>
            <a:pPr marL="0" indent="0" algn="ctr">
              <a:buNone/>
            </a:pPr>
            <a:r>
              <a:rPr lang="en-US" sz="1800" dirty="0">
                <a:solidFill>
                  <a:srgbClr val="2AC87E"/>
                </a:solidFill>
                <a:latin typeface="Helvetica Neue" pitchFamily="34" charset="0"/>
                <a:ea typeface="Helvetica Neue" pitchFamily="34" charset="-122"/>
                <a:cs typeface="Helvetica Neue" pitchFamily="34" charset="-120"/>
              </a:rPr>
              <a:t>●</a:t>
            </a:r>
            <a:endParaRPr lang="en-US" sz="1800" dirty="0"/>
          </a:p>
        </p:txBody>
      </p:sp>
      <p:sp>
        <p:nvSpPr>
          <p:cNvPr id="31" name="Text 29"/>
          <p:cNvSpPr/>
          <p:nvPr/>
        </p:nvSpPr>
        <p:spPr>
          <a:xfrm>
            <a:off x="4983480" y="3785616"/>
            <a:ext cx="1005840" cy="365760"/>
          </a:xfrm>
          <a:prstGeom prst="rect">
            <a:avLst/>
          </a:prstGeom>
          <a:noFill/>
          <a:ln/>
        </p:spPr>
        <p:txBody>
          <a:bodyPr wrap="square" lIns="0" tIns="0" rIns="0" bIns="0" rtlCol="0" anchor="ctr"/>
          <a:lstStyle/>
          <a:p>
            <a:pPr marL="0" indent="0" algn="ctr">
              <a:buNone/>
            </a:pPr>
            <a:r>
              <a:rPr lang="en-US" sz="1800" dirty="0">
                <a:solidFill>
                  <a:srgbClr val="2AC87E"/>
                </a:solidFill>
                <a:latin typeface="Helvetica Neue" pitchFamily="34" charset="0"/>
                <a:ea typeface="Helvetica Neue" pitchFamily="34" charset="-122"/>
                <a:cs typeface="Helvetica Neue" pitchFamily="34" charset="-120"/>
              </a:rPr>
              <a:t>●</a:t>
            </a:r>
            <a:endParaRPr lang="en-US" sz="1800" dirty="0"/>
          </a:p>
        </p:txBody>
      </p:sp>
      <p:sp>
        <p:nvSpPr>
          <p:cNvPr id="32" name="Text 30"/>
          <p:cNvSpPr/>
          <p:nvPr/>
        </p:nvSpPr>
        <p:spPr>
          <a:xfrm>
            <a:off x="6172200" y="3785616"/>
            <a:ext cx="1005840" cy="365760"/>
          </a:xfrm>
          <a:prstGeom prst="rect">
            <a:avLst/>
          </a:prstGeom>
          <a:noFill/>
          <a:ln/>
        </p:spPr>
        <p:txBody>
          <a:bodyPr wrap="square" lIns="0" tIns="0" rIns="0" bIns="0" rtlCol="0" anchor="ctr"/>
          <a:lstStyle/>
          <a:p>
            <a:pPr marL="0" indent="0" algn="ctr">
              <a:buNone/>
            </a:pPr>
            <a:r>
              <a:rPr lang="en-US" sz="1800" dirty="0">
                <a:solidFill>
                  <a:srgbClr val="2AC87E"/>
                </a:solidFill>
                <a:latin typeface="Helvetica Neue" pitchFamily="34" charset="0"/>
                <a:ea typeface="Helvetica Neue" pitchFamily="34" charset="-122"/>
                <a:cs typeface="Helvetica Neue" pitchFamily="34" charset="-120"/>
              </a:rPr>
              <a:t>●</a:t>
            </a:r>
            <a:endParaRPr lang="en-US" sz="1800" dirty="0"/>
          </a:p>
        </p:txBody>
      </p:sp>
      <p:sp>
        <p:nvSpPr>
          <p:cNvPr id="33" name="Text 31"/>
          <p:cNvSpPr/>
          <p:nvPr/>
        </p:nvSpPr>
        <p:spPr>
          <a:xfrm>
            <a:off x="7360920" y="3785616"/>
            <a:ext cx="1005840" cy="365760"/>
          </a:xfrm>
          <a:prstGeom prst="rect">
            <a:avLst/>
          </a:prstGeom>
          <a:noFill/>
          <a:ln/>
        </p:spPr>
        <p:txBody>
          <a:bodyPr wrap="square" lIns="0" tIns="0" rIns="0" bIns="0" rtlCol="0" anchor="ctr"/>
          <a:lstStyle/>
          <a:p>
            <a:pPr marL="0" indent="0" algn="ctr">
              <a:buNone/>
            </a:pPr>
            <a:r>
              <a:rPr lang="en-US" sz="1800" dirty="0">
                <a:solidFill>
                  <a:srgbClr val="2AC87E"/>
                </a:solidFill>
                <a:latin typeface="Helvetica Neue" pitchFamily="34" charset="0"/>
                <a:ea typeface="Helvetica Neue" pitchFamily="34" charset="-122"/>
                <a:cs typeface="Helvetica Neue" pitchFamily="34" charset="-120"/>
              </a:rPr>
              <a:t>●</a:t>
            </a:r>
            <a:endParaRPr lang="en-US" sz="1800" dirty="0"/>
          </a:p>
        </p:txBody>
      </p:sp>
      <p:sp>
        <p:nvSpPr>
          <p:cNvPr id="34" name="Text 32"/>
          <p:cNvSpPr/>
          <p:nvPr/>
        </p:nvSpPr>
        <p:spPr>
          <a:xfrm>
            <a:off x="502920" y="4663440"/>
            <a:ext cx="8229600" cy="274320"/>
          </a:xfrm>
          <a:prstGeom prst="rect">
            <a:avLst/>
          </a:prstGeom>
          <a:noFill/>
          <a:ln/>
        </p:spPr>
        <p:txBody>
          <a:bodyPr wrap="square" lIns="0" tIns="0" rIns="0" bIns="0" rtlCol="0" anchor="ctr"/>
          <a:lstStyle/>
          <a:p>
            <a:pPr marL="0" indent="0">
              <a:buNone/>
            </a:pPr>
            <a:r>
              <a:rPr lang="en-US" sz="1000" i="1" dirty="0">
                <a:solidFill>
                  <a:srgbClr val="4A5568"/>
                </a:solidFill>
                <a:latin typeface="Helvetica Neue" pitchFamily="34" charset="0"/>
                <a:ea typeface="Helvetica Neue" pitchFamily="34" charset="-122"/>
                <a:cs typeface="Helvetica Neue" pitchFamily="34" charset="-120"/>
              </a:rPr>
              <a:t>SymptoMap is administrative data infrastructure — not clinical decision support. No FDA pathway required.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377"/>
          </a:solidFill>
          <a:ln/>
        </p:spPr>
      </p:sp>
      <p:sp>
        <p:nvSpPr>
          <p:cNvPr id="3" name="Shape 1"/>
          <p:cNvSpPr/>
          <p:nvPr/>
        </p:nvSpPr>
        <p:spPr>
          <a:xfrm>
            <a:off x="0" y="0"/>
            <a:ext cx="73152" cy="5143500"/>
          </a:xfrm>
          <a:prstGeom prst="rect">
            <a:avLst/>
          </a:prstGeom>
          <a:solidFill>
            <a:srgbClr val="0D7377"/>
          </a:solidFill>
          <a:ln/>
        </p:spPr>
      </p:sp>
      <p:sp>
        <p:nvSpPr>
          <p:cNvPr id="4" name="Shape 2"/>
          <p:cNvSpPr/>
          <p:nvPr/>
        </p:nvSpPr>
        <p:spPr>
          <a:xfrm>
            <a:off x="7132320" y="3200400"/>
            <a:ext cx="91440" cy="91440"/>
          </a:xfrm>
          <a:prstGeom prst="ellipse">
            <a:avLst/>
          </a:prstGeom>
          <a:solidFill>
            <a:srgbClr val="0D7377">
              <a:alpha val="25000"/>
            </a:srgbClr>
          </a:solidFill>
          <a:ln/>
        </p:spPr>
      </p:sp>
      <p:sp>
        <p:nvSpPr>
          <p:cNvPr id="5" name="Shape 3"/>
          <p:cNvSpPr/>
          <p:nvPr/>
        </p:nvSpPr>
        <p:spPr>
          <a:xfrm>
            <a:off x="7479792" y="3200400"/>
            <a:ext cx="91440" cy="91440"/>
          </a:xfrm>
          <a:prstGeom prst="ellipse">
            <a:avLst/>
          </a:prstGeom>
          <a:solidFill>
            <a:srgbClr val="0D7377">
              <a:alpha val="25000"/>
            </a:srgbClr>
          </a:solidFill>
          <a:ln/>
        </p:spPr>
      </p:sp>
      <p:sp>
        <p:nvSpPr>
          <p:cNvPr id="6" name="Shape 4"/>
          <p:cNvSpPr/>
          <p:nvPr/>
        </p:nvSpPr>
        <p:spPr>
          <a:xfrm>
            <a:off x="7827264" y="3200400"/>
            <a:ext cx="91440" cy="91440"/>
          </a:xfrm>
          <a:prstGeom prst="ellipse">
            <a:avLst/>
          </a:prstGeom>
          <a:solidFill>
            <a:srgbClr val="0D7377">
              <a:alpha val="25000"/>
            </a:srgbClr>
          </a:solidFill>
          <a:ln/>
        </p:spPr>
      </p:sp>
      <p:sp>
        <p:nvSpPr>
          <p:cNvPr id="7" name="Shape 5"/>
          <p:cNvSpPr/>
          <p:nvPr/>
        </p:nvSpPr>
        <p:spPr>
          <a:xfrm>
            <a:off x="8174736" y="3200400"/>
            <a:ext cx="91440" cy="91440"/>
          </a:xfrm>
          <a:prstGeom prst="ellipse">
            <a:avLst/>
          </a:prstGeom>
          <a:solidFill>
            <a:srgbClr val="0D7377">
              <a:alpha val="25000"/>
            </a:srgbClr>
          </a:solidFill>
          <a:ln/>
        </p:spPr>
      </p:sp>
      <p:sp>
        <p:nvSpPr>
          <p:cNvPr id="8" name="Shape 6"/>
          <p:cNvSpPr/>
          <p:nvPr/>
        </p:nvSpPr>
        <p:spPr>
          <a:xfrm>
            <a:off x="8522208" y="3200400"/>
            <a:ext cx="91440" cy="91440"/>
          </a:xfrm>
          <a:prstGeom prst="ellipse">
            <a:avLst/>
          </a:prstGeom>
          <a:solidFill>
            <a:srgbClr val="0D7377">
              <a:alpha val="25000"/>
            </a:srgbClr>
          </a:solidFill>
          <a:ln/>
        </p:spPr>
      </p:sp>
      <p:sp>
        <p:nvSpPr>
          <p:cNvPr id="9" name="Shape 7"/>
          <p:cNvSpPr/>
          <p:nvPr/>
        </p:nvSpPr>
        <p:spPr>
          <a:xfrm>
            <a:off x="7132320" y="3547872"/>
            <a:ext cx="91440" cy="91440"/>
          </a:xfrm>
          <a:prstGeom prst="ellipse">
            <a:avLst/>
          </a:prstGeom>
          <a:solidFill>
            <a:srgbClr val="0D7377">
              <a:alpha val="25000"/>
            </a:srgbClr>
          </a:solidFill>
          <a:ln/>
        </p:spPr>
      </p:sp>
      <p:sp>
        <p:nvSpPr>
          <p:cNvPr id="10" name="Shape 8"/>
          <p:cNvSpPr/>
          <p:nvPr/>
        </p:nvSpPr>
        <p:spPr>
          <a:xfrm>
            <a:off x="7479792" y="3547872"/>
            <a:ext cx="91440" cy="91440"/>
          </a:xfrm>
          <a:prstGeom prst="ellipse">
            <a:avLst/>
          </a:prstGeom>
          <a:solidFill>
            <a:srgbClr val="0D7377">
              <a:alpha val="25000"/>
            </a:srgbClr>
          </a:solidFill>
          <a:ln/>
        </p:spPr>
      </p:sp>
      <p:sp>
        <p:nvSpPr>
          <p:cNvPr id="11" name="Shape 9"/>
          <p:cNvSpPr/>
          <p:nvPr/>
        </p:nvSpPr>
        <p:spPr>
          <a:xfrm>
            <a:off x="7827264" y="3547872"/>
            <a:ext cx="91440" cy="91440"/>
          </a:xfrm>
          <a:prstGeom prst="ellipse">
            <a:avLst/>
          </a:prstGeom>
          <a:solidFill>
            <a:srgbClr val="0D7377">
              <a:alpha val="25000"/>
            </a:srgbClr>
          </a:solidFill>
          <a:ln/>
        </p:spPr>
      </p:sp>
      <p:sp>
        <p:nvSpPr>
          <p:cNvPr id="12" name="Shape 10"/>
          <p:cNvSpPr/>
          <p:nvPr/>
        </p:nvSpPr>
        <p:spPr>
          <a:xfrm>
            <a:off x="8174736" y="3547872"/>
            <a:ext cx="91440" cy="91440"/>
          </a:xfrm>
          <a:prstGeom prst="ellipse">
            <a:avLst/>
          </a:prstGeom>
          <a:solidFill>
            <a:srgbClr val="0D7377">
              <a:alpha val="25000"/>
            </a:srgbClr>
          </a:solidFill>
          <a:ln/>
        </p:spPr>
      </p:sp>
      <p:sp>
        <p:nvSpPr>
          <p:cNvPr id="13" name="Shape 11"/>
          <p:cNvSpPr/>
          <p:nvPr/>
        </p:nvSpPr>
        <p:spPr>
          <a:xfrm>
            <a:off x="8522208" y="3547872"/>
            <a:ext cx="91440" cy="91440"/>
          </a:xfrm>
          <a:prstGeom prst="ellipse">
            <a:avLst/>
          </a:prstGeom>
          <a:solidFill>
            <a:srgbClr val="0D7377">
              <a:alpha val="25000"/>
            </a:srgbClr>
          </a:solidFill>
          <a:ln/>
        </p:spPr>
      </p:sp>
      <p:sp>
        <p:nvSpPr>
          <p:cNvPr id="14" name="Shape 12"/>
          <p:cNvSpPr/>
          <p:nvPr/>
        </p:nvSpPr>
        <p:spPr>
          <a:xfrm>
            <a:off x="7132320" y="3895344"/>
            <a:ext cx="91440" cy="91440"/>
          </a:xfrm>
          <a:prstGeom prst="ellipse">
            <a:avLst/>
          </a:prstGeom>
          <a:solidFill>
            <a:srgbClr val="0D7377">
              <a:alpha val="25000"/>
            </a:srgbClr>
          </a:solidFill>
          <a:ln/>
        </p:spPr>
      </p:sp>
      <p:sp>
        <p:nvSpPr>
          <p:cNvPr id="15" name="Shape 13"/>
          <p:cNvSpPr/>
          <p:nvPr/>
        </p:nvSpPr>
        <p:spPr>
          <a:xfrm>
            <a:off x="7479792" y="3895344"/>
            <a:ext cx="91440" cy="91440"/>
          </a:xfrm>
          <a:prstGeom prst="ellipse">
            <a:avLst/>
          </a:prstGeom>
          <a:solidFill>
            <a:srgbClr val="0D7377">
              <a:alpha val="25000"/>
            </a:srgbClr>
          </a:solidFill>
          <a:ln/>
        </p:spPr>
      </p:sp>
      <p:sp>
        <p:nvSpPr>
          <p:cNvPr id="16" name="Shape 14"/>
          <p:cNvSpPr/>
          <p:nvPr/>
        </p:nvSpPr>
        <p:spPr>
          <a:xfrm>
            <a:off x="7827264" y="3895344"/>
            <a:ext cx="91440" cy="91440"/>
          </a:xfrm>
          <a:prstGeom prst="ellipse">
            <a:avLst/>
          </a:prstGeom>
          <a:solidFill>
            <a:srgbClr val="0D7377">
              <a:alpha val="25000"/>
            </a:srgbClr>
          </a:solidFill>
          <a:ln/>
        </p:spPr>
      </p:sp>
      <p:sp>
        <p:nvSpPr>
          <p:cNvPr id="17" name="Shape 15"/>
          <p:cNvSpPr/>
          <p:nvPr/>
        </p:nvSpPr>
        <p:spPr>
          <a:xfrm>
            <a:off x="8174736" y="3895344"/>
            <a:ext cx="91440" cy="91440"/>
          </a:xfrm>
          <a:prstGeom prst="ellipse">
            <a:avLst/>
          </a:prstGeom>
          <a:solidFill>
            <a:srgbClr val="0D7377">
              <a:alpha val="25000"/>
            </a:srgbClr>
          </a:solidFill>
          <a:ln/>
        </p:spPr>
      </p:sp>
      <p:sp>
        <p:nvSpPr>
          <p:cNvPr id="18" name="Shape 16"/>
          <p:cNvSpPr/>
          <p:nvPr/>
        </p:nvSpPr>
        <p:spPr>
          <a:xfrm>
            <a:off x="8522208" y="3895344"/>
            <a:ext cx="91440" cy="91440"/>
          </a:xfrm>
          <a:prstGeom prst="ellipse">
            <a:avLst/>
          </a:prstGeom>
          <a:solidFill>
            <a:srgbClr val="0D7377">
              <a:alpha val="25000"/>
            </a:srgbClr>
          </a:solidFill>
          <a:ln/>
        </p:spPr>
      </p:sp>
      <p:sp>
        <p:nvSpPr>
          <p:cNvPr id="19" name="Shape 17"/>
          <p:cNvSpPr/>
          <p:nvPr/>
        </p:nvSpPr>
        <p:spPr>
          <a:xfrm>
            <a:off x="7132320" y="4242816"/>
            <a:ext cx="91440" cy="91440"/>
          </a:xfrm>
          <a:prstGeom prst="ellipse">
            <a:avLst/>
          </a:prstGeom>
          <a:solidFill>
            <a:srgbClr val="0D7377">
              <a:alpha val="25000"/>
            </a:srgbClr>
          </a:solidFill>
          <a:ln/>
        </p:spPr>
      </p:sp>
      <p:sp>
        <p:nvSpPr>
          <p:cNvPr id="20" name="Shape 18"/>
          <p:cNvSpPr/>
          <p:nvPr/>
        </p:nvSpPr>
        <p:spPr>
          <a:xfrm>
            <a:off x="7479792" y="4242816"/>
            <a:ext cx="91440" cy="91440"/>
          </a:xfrm>
          <a:prstGeom prst="ellipse">
            <a:avLst/>
          </a:prstGeom>
          <a:solidFill>
            <a:srgbClr val="0D7377">
              <a:alpha val="25000"/>
            </a:srgbClr>
          </a:solidFill>
          <a:ln/>
        </p:spPr>
      </p:sp>
      <p:sp>
        <p:nvSpPr>
          <p:cNvPr id="21" name="Shape 19"/>
          <p:cNvSpPr/>
          <p:nvPr/>
        </p:nvSpPr>
        <p:spPr>
          <a:xfrm>
            <a:off x="7827264" y="4242816"/>
            <a:ext cx="91440" cy="91440"/>
          </a:xfrm>
          <a:prstGeom prst="ellipse">
            <a:avLst/>
          </a:prstGeom>
          <a:solidFill>
            <a:srgbClr val="0D7377">
              <a:alpha val="25000"/>
            </a:srgbClr>
          </a:solidFill>
          <a:ln/>
        </p:spPr>
      </p:sp>
      <p:sp>
        <p:nvSpPr>
          <p:cNvPr id="22" name="Shape 20"/>
          <p:cNvSpPr/>
          <p:nvPr/>
        </p:nvSpPr>
        <p:spPr>
          <a:xfrm>
            <a:off x="8174736" y="4242816"/>
            <a:ext cx="91440" cy="91440"/>
          </a:xfrm>
          <a:prstGeom prst="ellipse">
            <a:avLst/>
          </a:prstGeom>
          <a:solidFill>
            <a:srgbClr val="0D7377">
              <a:alpha val="25000"/>
            </a:srgbClr>
          </a:solidFill>
          <a:ln/>
        </p:spPr>
      </p:sp>
      <p:sp>
        <p:nvSpPr>
          <p:cNvPr id="23" name="Shape 21"/>
          <p:cNvSpPr/>
          <p:nvPr/>
        </p:nvSpPr>
        <p:spPr>
          <a:xfrm>
            <a:off x="8522208" y="4242816"/>
            <a:ext cx="91440" cy="91440"/>
          </a:xfrm>
          <a:prstGeom prst="ellipse">
            <a:avLst/>
          </a:prstGeom>
          <a:solidFill>
            <a:srgbClr val="0D7377">
              <a:alpha val="25000"/>
            </a:srgbClr>
          </a:solidFill>
          <a:ln/>
        </p:spPr>
      </p:sp>
      <p:sp>
        <p:nvSpPr>
          <p:cNvPr id="24" name="Text 22"/>
          <p:cNvSpPr/>
          <p:nvPr/>
        </p:nvSpPr>
        <p:spPr>
          <a:xfrm>
            <a:off x="457200" y="201168"/>
            <a:ext cx="8229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0D7377"/>
                </a:solidFill>
                <a:effectLst/>
                <a:uLnTx/>
                <a:uFillTx/>
                <a:latin typeface="Calibri" pitchFamily="34" charset="0"/>
                <a:ea typeface="Calibri" pitchFamily="34" charset="-122"/>
                <a:cs typeface="Calibri" pitchFamily="34" charset="-120"/>
              </a:rPr>
              <a:t>C  —  COMPETITION  ·  CALL TO ACTIO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57200" y="438912"/>
            <a:ext cx="822960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SymptoMap</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57200" y="1261872"/>
            <a:ext cx="6858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14A085"/>
                </a:solidFill>
                <a:effectLst/>
                <a:uLnTx/>
                <a:uFillTx/>
                <a:latin typeface="Calibri" pitchFamily="34" charset="0"/>
                <a:ea typeface="Calibri" pitchFamily="34" charset="-122"/>
                <a:cs typeface="Calibri" pitchFamily="34" charset="-120"/>
              </a:rPr>
              <a:t>What ambient AI hears, SymptoMap understands.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384048" y="1874520"/>
            <a:ext cx="2633472" cy="1600200"/>
          </a:xfrm>
          <a:prstGeom prst="rect">
            <a:avLst/>
          </a:prstGeom>
          <a:solidFill>
            <a:srgbClr val="141C2E"/>
          </a:solidFill>
          <a:ln/>
          <a:effectLst>
            <a:outerShdw blurRad="101600" dist="38100" dir="8100000" algn="bl" rotWithShape="0">
              <a:srgbClr val="000000">
                <a:alpha val="18000"/>
              </a:srgbClr>
            </a:outerShdw>
          </a:effectLst>
        </p:spPr>
      </p:sp>
      <p:sp>
        <p:nvSpPr>
          <p:cNvPr id="28" name="Shape 26"/>
          <p:cNvSpPr/>
          <p:nvPr/>
        </p:nvSpPr>
        <p:spPr>
          <a:xfrm>
            <a:off x="384048" y="1874520"/>
            <a:ext cx="2633472" cy="54864"/>
          </a:xfrm>
          <a:prstGeom prst="rect">
            <a:avLst/>
          </a:prstGeom>
          <a:solidFill>
            <a:srgbClr val="0D7377"/>
          </a:solidFill>
          <a:ln/>
        </p:spPr>
      </p:sp>
      <p:sp>
        <p:nvSpPr>
          <p:cNvPr id="29" name="Text 27"/>
          <p:cNvSpPr/>
          <p:nvPr/>
        </p:nvSpPr>
        <p:spPr>
          <a:xfrm>
            <a:off x="384048" y="1984248"/>
            <a:ext cx="26334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D7377"/>
                </a:solidFill>
                <a:effectLst/>
                <a:uLnTx/>
                <a:uFillTx/>
                <a:latin typeface="Georgia" pitchFamily="34" charset="0"/>
                <a:ea typeface="Georgia" pitchFamily="34" charset="-122"/>
                <a:cs typeface="Georgia" pitchFamily="34" charset="-120"/>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384048" y="2331720"/>
            <a:ext cx="263347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Partner with </a:t>
            </a:r>
            <a:r>
              <a:rPr lang="en-US" sz="1200" b="1" dirty="0">
                <a:solidFill>
                  <a:srgbClr val="FFFFFF"/>
                </a:solidFill>
                <a:latin typeface="Calibri" pitchFamily="34" charset="0"/>
                <a:ea typeface="Calibri" pitchFamily="34" charset="-122"/>
                <a:cs typeface="Calibri" pitchFamily="34" charset="-120"/>
              </a:rPr>
              <a:t>Ambient AI Providers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93776" y="2651760"/>
            <a:ext cx="2423160" cy="658368"/>
          </a:xfrm>
          <a:prstGeom prst="rect">
            <a:avLst/>
          </a:prstGeom>
          <a:noFill/>
          <a:ln/>
        </p:spPr>
        <p:txBody>
          <a:bodyPr wrap="square" lIns="0" tIns="0" rIns="0" bIns="0"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We target Suki for Partners SDK</a:t>
            </a:r>
          </a:p>
          <a:p>
            <a:pPr lvl="0" algn="ctr">
              <a:lnSpc>
                <a:spcPct val="130000"/>
              </a:lnSpc>
            </a:pPr>
            <a:r>
              <a:rPr kumimoji="0" lang="en-US" sz="10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Provider agnostic architecture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3218688" y="1874520"/>
            <a:ext cx="2633472" cy="1600200"/>
          </a:xfrm>
          <a:prstGeom prst="rect">
            <a:avLst/>
          </a:prstGeom>
          <a:solidFill>
            <a:srgbClr val="141C2E"/>
          </a:solidFill>
          <a:ln/>
          <a:effectLst>
            <a:outerShdw blurRad="101600" dist="38100" dir="8100000" algn="bl" rotWithShape="0">
              <a:srgbClr val="000000">
                <a:alpha val="18000"/>
              </a:srgbClr>
            </a:outerShdw>
          </a:effectLst>
        </p:spPr>
      </p:sp>
      <p:sp>
        <p:nvSpPr>
          <p:cNvPr id="33" name="Shape 31"/>
          <p:cNvSpPr/>
          <p:nvPr/>
        </p:nvSpPr>
        <p:spPr>
          <a:xfrm>
            <a:off x="3218688" y="1874520"/>
            <a:ext cx="2633472" cy="54864"/>
          </a:xfrm>
          <a:prstGeom prst="rect">
            <a:avLst/>
          </a:prstGeom>
          <a:solidFill>
            <a:srgbClr val="E8A838"/>
          </a:solidFill>
          <a:ln/>
        </p:spPr>
      </p:sp>
      <p:sp>
        <p:nvSpPr>
          <p:cNvPr id="34" name="Text 32"/>
          <p:cNvSpPr/>
          <p:nvPr/>
        </p:nvSpPr>
        <p:spPr>
          <a:xfrm>
            <a:off x="3218688" y="1984248"/>
            <a:ext cx="26334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8A838"/>
                </a:solidFill>
                <a:effectLst/>
                <a:uLnTx/>
                <a:uFillTx/>
                <a:latin typeface="Georgia" pitchFamily="34" charset="0"/>
                <a:ea typeface="Georgia" pitchFamily="34" charset="-122"/>
                <a:cs typeface="Georgia" pitchFamily="34" charset="-120"/>
              </a:rPr>
              <a:t>02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3218688" y="2331720"/>
            <a:ext cx="263347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Calibri" pitchFamily="34" charset="0"/>
                <a:ea typeface="Calibri" pitchFamily="34" charset="-122"/>
                <a:cs typeface="Calibri" pitchFamily="34" charset="-120"/>
              </a:rPr>
              <a:t>MCP Server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3328416" y="2651760"/>
            <a:ext cx="2423160" cy="658368"/>
          </a:xfrm>
          <a:prstGeom prst="rect">
            <a:avLst/>
          </a:prstGeom>
          <a:noFill/>
          <a:ln/>
        </p:spPr>
        <p:txBody>
          <a:bodyPr wrap="square" lIns="0" tIns="0" rIns="0" bIns="0"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lang="en-US" sz="1050" dirty="0">
                <a:solidFill>
                  <a:srgbClr val="7A8499"/>
                </a:solidFill>
                <a:latin typeface="Calibri" pitchFamily="34" charset="0"/>
                <a:ea typeface="Calibri" pitchFamily="34" charset="-122"/>
                <a:cs typeface="Calibri" pitchFamily="34" charset="-120"/>
              </a:rPr>
              <a:t>Expose MCP server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ct val="130000"/>
              </a:lnSpc>
            </a:pPr>
            <a:r>
              <a:rPr lang="en-US" sz="1050" dirty="0">
                <a:solidFill>
                  <a:srgbClr val="7A8499"/>
                </a:solidFill>
                <a:latin typeface="Calibri" pitchFamily="34" charset="0"/>
                <a:ea typeface="Calibri" pitchFamily="34" charset="-122"/>
                <a:cs typeface="Calibri" pitchFamily="34" charset="-120"/>
              </a:rPr>
              <a:t>Built to plug in with one webhook URL.</a:t>
            </a:r>
            <a:endParaRPr lang="en-US" sz="1050" dirty="0">
              <a:solidFill>
                <a:prstClr val="black"/>
              </a:solidFill>
            </a:endParaRPr>
          </a:p>
        </p:txBody>
      </p:sp>
      <p:sp>
        <p:nvSpPr>
          <p:cNvPr id="37" name="Shape 35"/>
          <p:cNvSpPr/>
          <p:nvPr/>
        </p:nvSpPr>
        <p:spPr>
          <a:xfrm>
            <a:off x="6053328" y="1874520"/>
            <a:ext cx="2633472" cy="1600200"/>
          </a:xfrm>
          <a:prstGeom prst="rect">
            <a:avLst/>
          </a:prstGeom>
          <a:solidFill>
            <a:srgbClr val="141C2E"/>
          </a:solidFill>
          <a:ln/>
          <a:effectLst>
            <a:outerShdw blurRad="101600" dist="38100" dir="8100000" algn="bl" rotWithShape="0">
              <a:srgbClr val="000000">
                <a:alpha val="18000"/>
              </a:srgbClr>
            </a:outerShdw>
          </a:effectLst>
        </p:spPr>
        <p:txBody>
          <a:bodyPr/>
          <a:lstStyle/>
          <a:p>
            <a:endParaRPr lang="en-US" dirty="0"/>
          </a:p>
        </p:txBody>
      </p:sp>
      <p:sp>
        <p:nvSpPr>
          <p:cNvPr id="38" name="Shape 36"/>
          <p:cNvSpPr/>
          <p:nvPr/>
        </p:nvSpPr>
        <p:spPr>
          <a:xfrm>
            <a:off x="6053328" y="1874520"/>
            <a:ext cx="2633472" cy="54864"/>
          </a:xfrm>
          <a:prstGeom prst="rect">
            <a:avLst/>
          </a:prstGeom>
          <a:solidFill>
            <a:srgbClr val="A855F7"/>
          </a:solidFill>
          <a:ln/>
        </p:spPr>
      </p:sp>
      <p:sp>
        <p:nvSpPr>
          <p:cNvPr id="39" name="Text 37"/>
          <p:cNvSpPr/>
          <p:nvPr/>
        </p:nvSpPr>
        <p:spPr>
          <a:xfrm>
            <a:off x="6053328" y="1984248"/>
            <a:ext cx="26334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A855F7"/>
                </a:solidFill>
                <a:effectLst/>
                <a:uLnTx/>
                <a:uFillTx/>
                <a:latin typeface="Georgia" pitchFamily="34" charset="0"/>
                <a:ea typeface="Georgia" pitchFamily="34" charset="-122"/>
                <a:cs typeface="Georgia" pitchFamily="34" charset="-120"/>
              </a:rPr>
              <a:t>03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053328" y="2331720"/>
            <a:ext cx="263347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Calibri" pitchFamily="34" charset="0"/>
                <a:ea typeface="Calibri" pitchFamily="34" charset="-122"/>
                <a:cs typeface="Calibri" pitchFamily="34" charset="-120"/>
              </a:rPr>
              <a:t>Tokenization</a:t>
            </a: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Integration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6163056" y="2651760"/>
            <a:ext cx="2423160" cy="658368"/>
          </a:xfrm>
          <a:prstGeom prst="rect">
            <a:avLst/>
          </a:prstGeom>
          <a:noFill/>
          <a:ln/>
        </p:spPr>
        <p:txBody>
          <a:bodyPr wrap="square" lIns="0" tIns="0" rIns="0" bIns="0"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Replace mock with live IMO API.</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Full terminology layer activated.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384048" y="3611880"/>
            <a:ext cx="8321040" cy="932688"/>
          </a:xfrm>
          <a:prstGeom prst="rect">
            <a:avLst/>
          </a:prstGeom>
          <a:solidFill>
            <a:srgbClr val="1A2540"/>
          </a:solidFill>
          <a:ln/>
        </p:spPr>
      </p:sp>
      <p:sp>
        <p:nvSpPr>
          <p:cNvPr id="43" name="Text 41"/>
          <p:cNvSpPr/>
          <p:nvPr/>
        </p:nvSpPr>
        <p:spPr>
          <a:xfrm>
            <a:off x="548640" y="3675888"/>
            <a:ext cx="457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8432A"/>
                </a:solidFill>
                <a:effectLst/>
                <a:uLnTx/>
                <a:uFillTx/>
                <a:latin typeface="Georgia" pitchFamily="34" charset="0"/>
                <a:ea typeface="Georgia" pitchFamily="34" charset="-122"/>
                <a:cs typeface="Georgia" pitchFamily="34" charset="-120"/>
              </a:rPr>
              <a:t>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896112" y="3703320"/>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50" normalizeH="0" baseline="0" noProof="0" dirty="0">
                <a:ln>
                  <a:noFill/>
                </a:ln>
                <a:solidFill>
                  <a:srgbClr val="C8432A"/>
                </a:solidFill>
                <a:effectLst/>
                <a:uLnTx/>
                <a:uFillTx/>
                <a:latin typeface="Calibri" pitchFamily="34" charset="0"/>
                <a:ea typeface="Calibri" pitchFamily="34" charset="-122"/>
                <a:cs typeface="Calibri" pitchFamily="34" charset="-120"/>
              </a:rPr>
              <a:t>NEED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896112" y="3904488"/>
            <a:ext cx="1600200" cy="475488"/>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$4B HCC gap. Ambient AI doesn't code — it transcribes.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2606040" y="3675888"/>
            <a:ext cx="457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D7377"/>
                </a:solidFill>
                <a:effectLst/>
                <a:uLnTx/>
                <a:uFillTx/>
                <a:latin typeface="Georgia" pitchFamily="34" charset="0"/>
                <a:ea typeface="Georgia" pitchFamily="34" charset="-122"/>
                <a:cs typeface="Georgia" pitchFamily="34" charset="-120"/>
              </a:rPr>
              <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2953512" y="3703320"/>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50" normalizeH="0" baseline="0" noProof="0" dirty="0">
                <a:ln>
                  <a:noFill/>
                </a:ln>
                <a:solidFill>
                  <a:srgbClr val="0D7377"/>
                </a:solidFill>
                <a:effectLst/>
                <a:uLnTx/>
                <a:uFillTx/>
                <a:latin typeface="Calibri" pitchFamily="34" charset="0"/>
                <a:ea typeface="Calibri" pitchFamily="34" charset="-122"/>
                <a:cs typeface="Calibri" pitchFamily="34" charset="-120"/>
              </a:rPr>
              <a:t>APPROACH</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2953512" y="3904488"/>
            <a:ext cx="1600200" cy="475488"/>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KG traversal + IMO terminology. Post-transcript layer.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p:cNvSpPr/>
          <p:nvPr/>
        </p:nvSpPr>
        <p:spPr>
          <a:xfrm>
            <a:off x="4663440" y="3675888"/>
            <a:ext cx="457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C87E"/>
                </a:solidFill>
                <a:effectLst/>
                <a:uLnTx/>
                <a:uFillTx/>
                <a:latin typeface="Georgia" pitchFamily="34" charset="0"/>
                <a:ea typeface="Georgia" pitchFamily="34" charset="-122"/>
                <a:cs typeface="Georgia" pitchFamily="34" charset="-120"/>
              </a:rPr>
              <a:t>B</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5010912" y="3703320"/>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50" normalizeH="0" baseline="0" noProof="0" dirty="0">
                <a:ln>
                  <a:noFill/>
                </a:ln>
                <a:solidFill>
                  <a:srgbClr val="2AC87E"/>
                </a:solidFill>
                <a:effectLst/>
                <a:uLnTx/>
                <a:uFillTx/>
                <a:latin typeface="Calibri" pitchFamily="34" charset="0"/>
                <a:ea typeface="Calibri" pitchFamily="34" charset="-122"/>
                <a:cs typeface="Calibri" pitchFamily="34" charset="-120"/>
              </a:rPr>
              <a:t>BENEFIT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5010912" y="3904488"/>
            <a:ext cx="1600200" cy="475488"/>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37%→98% accuracy. $3K/member. Patient safety.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6720840" y="3675888"/>
            <a:ext cx="457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8A838"/>
                </a:solidFill>
                <a:effectLst/>
                <a:uLnTx/>
                <a:uFillTx/>
                <a:latin typeface="Georgia" pitchFamily="34" charset="0"/>
                <a:ea typeface="Georgia" pitchFamily="34" charset="-122"/>
                <a:cs typeface="Georgia" pitchFamily="34" charset="-120"/>
              </a:rPr>
              <a:t>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7068312" y="3703320"/>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50" normalizeH="0" baseline="0" noProof="0" dirty="0">
                <a:ln>
                  <a:noFill/>
                </a:ln>
                <a:solidFill>
                  <a:srgbClr val="E8A838"/>
                </a:solidFill>
                <a:effectLst/>
                <a:uLnTx/>
                <a:uFillTx/>
                <a:latin typeface="Calibri" pitchFamily="34" charset="0"/>
                <a:ea typeface="Calibri" pitchFamily="34" charset="-122"/>
                <a:cs typeface="Calibri" pitchFamily="34" charset="-120"/>
              </a:rPr>
              <a:t>COMPETITION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7068312" y="3904488"/>
            <a:ext cx="1600200" cy="475488"/>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8499"/>
                </a:solidFill>
                <a:effectLst/>
                <a:uLnTx/>
                <a:uFillTx/>
                <a:latin typeface="Calibri" pitchFamily="34" charset="0"/>
                <a:ea typeface="Calibri" pitchFamily="34" charset="-122"/>
                <a:cs typeface="Calibri" pitchFamily="34" charset="-120"/>
              </a:rPr>
              <a:t>Platform neutral. CDI + ambient. Only this combo.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878</Words>
  <Application>Microsoft Office PowerPoint</Application>
  <PresentationFormat>On-screen Show (16:9)</PresentationFormat>
  <Paragraphs>132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SymptoMap</dc:title>
  <dc:subject>PptxGenJS Presentation</dc:subject>
  <dc:creator>PptxGenJS</dc:creator>
  <cp:lastModifiedBy>shivaji goud</cp:lastModifiedBy>
  <cp:revision>2</cp:revision>
  <dcterms:created xsi:type="dcterms:W3CDTF">2026-04-05T16:21:33Z</dcterms:created>
  <dcterms:modified xsi:type="dcterms:W3CDTF">2026-04-05T16:47:12Z</dcterms:modified>
</cp:coreProperties>
</file>